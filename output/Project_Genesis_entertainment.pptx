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2D235A"/>
            </a:solidFill>
          </c:spPr>
          <c:cat>
            <c:strRef>
              <c:f>Sheet1!$A$2:$A$5</c:f>
              <c:strCache>
                <c:ptCount val="4"/>
                <c:pt idx="0">
                  <c:v>FY22</c:v>
                </c:pt>
                <c:pt idx="1">
                  <c:v>FY23</c:v>
                </c:pt>
                <c:pt idx="2">
                  <c:v>FY24</c:v>
                </c:pt>
                <c:pt idx="3">
                  <c:v>FY25</c:v>
                </c:pt>
              </c:strCache>
            </c:strRef>
          </c:cat>
          <c:val>
            <c:numRef>
              <c:f>Sheet1!$B$2:$B$5</c:f>
              <c:numCache>
                <c:formatCode>General</c:formatCode>
                <c:ptCount val="4"/>
                <c:pt idx="0">
                  <c:v>68.2</c:v>
                </c:pt>
                <c:pt idx="1">
                  <c:v>253.7</c:v>
                </c:pt>
                <c:pt idx="2">
                  <c:v>611.5</c:v>
                </c:pt>
                <c:pt idx="3">
                  <c:v>959.9</c:v>
                </c:pt>
              </c:numCache>
            </c:numRef>
          </c:val>
        </c:ser>
        <c:ser>
          <c:idx val="1"/>
          <c:order val="1"/>
          <c:tx>
            <c:strRef>
              <c:f>Sheet1!$C$1</c:f>
              <c:strCache>
                <c:ptCount val="1"/>
                <c:pt idx="0">
                  <c:v>EBITDA</c:v>
                </c:pt>
              </c:strCache>
            </c:strRef>
          </c:tx>
          <c:spPr>
            <a:solidFill>
              <a:srgbClr val="00C8FF"/>
            </a:solidFill>
          </c:spPr>
          <c:cat>
            <c:strRef>
              <c:f>Sheet1!$A$2:$A$5</c:f>
              <c:strCache>
                <c:ptCount val="4"/>
                <c:pt idx="0">
                  <c:v>FY22</c:v>
                </c:pt>
                <c:pt idx="1">
                  <c:v>FY23</c:v>
                </c:pt>
                <c:pt idx="2">
                  <c:v>FY24</c:v>
                </c:pt>
                <c:pt idx="3">
                  <c:v>FY25</c:v>
                </c:pt>
              </c:strCache>
            </c:strRef>
          </c:cat>
          <c:val>
            <c:numRef>
              <c:f>Sheet1!$C$2:$C$5</c:f>
              <c:numCache>
                <c:formatCode>General</c:formatCode>
                <c:ptCount val="4"/>
                <c:pt idx="0">
                  <c:v>14.0</c:v>
                </c:pt>
                <c:pt idx="1">
                  <c:v>26.3</c:v>
                </c:pt>
                <c:pt idx="2">
                  <c:v>62.0</c:v>
                </c:pt>
                <c:pt idx="3">
                  <c:v>262.5</c:v>
                </c:pt>
              </c:numCache>
            </c:numRef>
          </c:val>
        </c:ser>
        <c:ser>
          <c:idx val="2"/>
          <c:order val="2"/>
          <c:tx>
            <c:strRef>
              <c:f>Sheet1!$D$1</c:f>
              <c:strCache>
                <c:ptCount val="1"/>
                <c:pt idx="0">
                  <c:v>PAT</c:v>
                </c:pt>
              </c:strCache>
            </c:strRef>
          </c:tx>
          <c:spPr>
            <a:solidFill>
              <a:srgbClr val="FF6482"/>
            </a:solidFill>
          </c:spPr>
          <c:cat>
            <c:strRef>
              <c:f>Sheet1!$A$2:$A$5</c:f>
              <c:strCache>
                <c:ptCount val="4"/>
                <c:pt idx="0">
                  <c:v>FY22</c:v>
                </c:pt>
                <c:pt idx="1">
                  <c:v>FY23</c:v>
                </c:pt>
                <c:pt idx="2">
                  <c:v>FY24</c:v>
                </c:pt>
                <c:pt idx="3">
                  <c:v>FY25</c:v>
                </c:pt>
              </c:strCache>
            </c:strRef>
          </c:cat>
          <c:val>
            <c:numRef>
              <c:f>Sheet1!$D$2:$D$5</c:f>
              <c:numCache>
                <c:formatCode>General</c:formatCode>
                <c:ptCount val="4"/>
                <c:pt idx="0">
                  <c:v>8.8</c:v>
                </c:pt>
                <c:pt idx="1">
                  <c:v>18.6</c:v>
                </c:pt>
                <c:pt idx="2">
                  <c:v>40.5</c:v>
                </c:pt>
                <c:pt idx="3">
                  <c:v>183.9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2286000"/>
            <a:ext cx="9144000" cy="1371600"/>
          </a:xfrm>
          <a:prstGeom prst="rect">
            <a:avLst/>
          </a:prstGeom>
          <a:noFill/>
        </p:spPr>
        <p:txBody>
          <a:bodyPr wrap="none">
            <a:spAutoFit/>
          </a:bodyPr>
          <a:lstStyle/>
          <a:p>
            <a:r>
              <a:rPr sz="5400" b="1">
                <a:solidFill>
                  <a:srgbClr val="FFFFFF"/>
                </a:solidFill>
                <a:latin typeface="Arial"/>
              </a:rPr>
              <a:t>Project Genesis</a:t>
            </a:r>
          </a:p>
        </p:txBody>
      </p:sp>
      <p:sp>
        <p:nvSpPr>
          <p:cNvPr id="4" name="TextBox 3"/>
          <p:cNvSpPr txBox="1"/>
          <p:nvPr/>
        </p:nvSpPr>
        <p:spPr>
          <a:xfrm>
            <a:off x="457200" y="3840480"/>
            <a:ext cx="5486400" cy="731520"/>
          </a:xfrm>
          <a:prstGeom prst="rect">
            <a:avLst/>
          </a:prstGeom>
          <a:noFill/>
        </p:spPr>
        <p:txBody>
          <a:bodyPr wrap="none">
            <a:spAutoFit/>
          </a:bodyPr>
          <a:lstStyle/>
          <a:p>
            <a:r>
              <a:rPr sz="2400">
                <a:solidFill>
                  <a:srgbClr val="FFFFFF"/>
                </a:solidFill>
                <a:latin typeface="Arial"/>
              </a:rPr>
              <a:t>Investment Brief</a:t>
            </a:r>
          </a:p>
        </p:txBody>
      </p:sp>
      <p:sp>
        <p:nvSpPr>
          <p:cNvPr id="5" name="TextBox 4"/>
          <p:cNvSpPr txBox="1"/>
          <p:nvPr/>
        </p:nvSpPr>
        <p:spPr>
          <a:xfrm>
            <a:off x="457200" y="4572000"/>
            <a:ext cx="3657600" cy="457200"/>
          </a:xfrm>
          <a:prstGeom prst="rect">
            <a:avLst/>
          </a:prstGeom>
          <a:noFill/>
        </p:spPr>
        <p:txBody>
          <a:bodyPr wrap="none">
            <a:spAutoFit/>
          </a:bodyPr>
          <a:lstStyle/>
          <a:p>
            <a:r>
              <a:rPr sz="1400" i="1">
                <a:solidFill>
                  <a:srgbClr val="B4B4B4"/>
                </a:solidFill>
                <a:latin typeface="Arial"/>
              </a:rPr>
              <a:t>kelpglobal.com</a:t>
            </a:r>
          </a:p>
        </p:txBody>
      </p:sp>
      <p:sp>
        <p:nvSpPr>
          <p:cNvPr id="6" name="TextBox 5"/>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Brand &amp; Market Presence</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ectangle 4"/>
          <p:cNvSpPr/>
          <p:nvPr/>
        </p:nvSpPr>
        <p:spPr>
          <a:xfrm>
            <a:off x="274320" y="1005840"/>
            <a:ext cx="6858000" cy="32004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51560"/>
            <a:ext cx="6400800" cy="274320"/>
          </a:xfrm>
          <a:prstGeom prst="rect">
            <a:avLst/>
          </a:prstGeom>
          <a:noFill/>
        </p:spPr>
        <p:txBody>
          <a:bodyPr wrap="none">
            <a:spAutoFit/>
          </a:bodyPr>
          <a:lstStyle/>
          <a:p>
            <a:r>
              <a:rPr sz="1200" b="1">
                <a:solidFill>
                  <a:srgbClr val="FFFFFF"/>
                </a:solidFill>
                <a:latin typeface="Arial"/>
              </a:rPr>
              <a:t>Business Overview:</a:t>
            </a:r>
          </a:p>
        </p:txBody>
      </p:sp>
      <p:sp>
        <p:nvSpPr>
          <p:cNvPr id="7" name="TextBox 6"/>
          <p:cNvSpPr txBox="1"/>
          <p:nvPr/>
        </p:nvSpPr>
        <p:spPr>
          <a:xfrm>
            <a:off x="274320" y="1371600"/>
            <a:ext cx="6858000" cy="1280160"/>
          </a:xfrm>
          <a:prstGeom prst="rect">
            <a:avLst/>
          </a:prstGeom>
          <a:noFill/>
        </p:spPr>
        <p:txBody>
          <a:bodyPr wrap="square">
            <a:spAutoFit/>
          </a:bodyPr>
          <a:lstStyle/>
          <a:p>
            <a:pPr>
              <a:defRPr sz="1000">
                <a:solidFill>
                  <a:srgbClr val="3C3C3C"/>
                </a:solidFill>
                <a:latin typeface="Arial"/>
              </a:defRPr>
            </a:pPr>
            <a:r>
              <a:t>The Company is transforming the cinematic experience through its innovative multiplex brand, ConnPlex, which emphasizes comfort and affordability. With a focus on smart cinema chains and strategic outsourcing of operational services, The Company aims to enhance customer satisfaction while maintaining low operational costs and maximizing returns in the Canadian market.</a:t>
            </a:r>
          </a:p>
        </p:txBody>
      </p:sp>
      <p:sp>
        <p:nvSpPr>
          <p:cNvPr id="8" name="Rectangle 7"/>
          <p:cNvSpPr/>
          <p:nvPr/>
        </p:nvSpPr>
        <p:spPr>
          <a:xfrm>
            <a:off x="7315200" y="1005840"/>
            <a:ext cx="4389120" cy="3200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051560"/>
            <a:ext cx="4114800" cy="274320"/>
          </a:xfrm>
          <a:prstGeom prst="rect">
            <a:avLst/>
          </a:prstGeom>
          <a:noFill/>
        </p:spPr>
        <p:txBody>
          <a:bodyPr wrap="none">
            <a:spAutoFit/>
          </a:bodyPr>
          <a:lstStyle/>
          <a:p>
            <a:r>
              <a:rPr sz="1200" b="1">
                <a:solidFill>
                  <a:srgbClr val="FFFFFF"/>
                </a:solidFill>
                <a:latin typeface="Arial"/>
              </a:rPr>
              <a:t>At a Glance</a:t>
            </a:r>
          </a:p>
        </p:txBody>
      </p:sp>
      <p:sp>
        <p:nvSpPr>
          <p:cNvPr id="10" name="TextBox 9"/>
          <p:cNvSpPr txBox="1"/>
          <p:nvPr/>
        </p:nvSpPr>
        <p:spPr>
          <a:xfrm>
            <a:off x="7315200" y="1371600"/>
            <a:ext cx="4389120" cy="2011680"/>
          </a:xfrm>
          <a:prstGeom prst="rect">
            <a:avLst/>
          </a:prstGeom>
          <a:noFill/>
        </p:spPr>
        <p:txBody>
          <a:bodyPr wrap="square">
            <a:spAutoFit/>
          </a:bodyPr>
          <a:lstStyle/>
          <a:p>
            <a:r>
              <a:rPr sz="1400" b="1">
                <a:solidFill>
                  <a:srgbClr val="00C8FF"/>
                </a:solidFill>
                <a:latin typeface="Arial"/>
              </a:rPr>
              <a:t>At a Glance</a:t>
            </a:r>
          </a:p>
          <a:p>
            <a:pPr>
              <a:spcBef>
                <a:spcPts val="400"/>
              </a:spcBef>
            </a:pPr>
            <a:r>
              <a:rPr sz="1000" b="1">
                <a:solidFill>
                  <a:srgbClr val="3C3C3C"/>
                </a:solidFill>
                <a:latin typeface="Arial"/>
              </a:rPr>
              <a:t>Founded: </a:t>
            </a:r>
            <a:r>
              <a:rPr sz="1000">
                <a:solidFill>
                  <a:srgbClr val="3C3C3C"/>
                </a:solidFill>
                <a:latin typeface="Arial"/>
              </a:rPr>
              <a:t>2015</a:t>
            </a:r>
          </a:p>
          <a:p>
            <a:pPr>
              <a:spcBef>
                <a:spcPts val="400"/>
              </a:spcBef>
            </a:pPr>
            <a:r>
              <a:rPr sz="1000" b="1">
                <a:solidFill>
                  <a:srgbClr val="3C3C3C"/>
                </a:solidFill>
                <a:latin typeface="Arial"/>
              </a:rPr>
              <a:t>Employees: </a:t>
            </a:r>
            <a:r>
              <a:rPr sz="1000">
                <a:solidFill>
                  <a:srgbClr val="3C3C3C"/>
                </a:solidFill>
                <a:latin typeface="Arial"/>
              </a:rPr>
              <a:t>None</a:t>
            </a:r>
          </a:p>
          <a:p>
            <a:pPr>
              <a:spcBef>
                <a:spcPts val="400"/>
              </a:spcBef>
            </a:pPr>
            <a:r>
              <a:rPr sz="1000" b="1">
                <a:solidFill>
                  <a:srgbClr val="3C3C3C"/>
                </a:solidFill>
                <a:latin typeface="Arial"/>
              </a:rPr>
              <a:t>Facilities: </a:t>
            </a:r>
            <a:r>
              <a:rPr sz="1000">
                <a:solidFill>
                  <a:srgbClr val="3C3C3C"/>
                </a:solidFill>
                <a:latin typeface="Arial"/>
              </a:rPr>
              <a:t>1 state-of-the-art facility</a:t>
            </a:r>
          </a:p>
          <a:p>
            <a:pPr>
              <a:spcBef>
                <a:spcPts val="400"/>
              </a:spcBef>
            </a:pPr>
            <a:r>
              <a:rPr sz="1000" b="1">
                <a:solidFill>
                  <a:srgbClr val="3C3C3C"/>
                </a:solidFill>
                <a:latin typeface="Arial"/>
              </a:rPr>
              <a:t>Global Presence: </a:t>
            </a:r>
            <a:r>
              <a:rPr sz="1000">
                <a:solidFill>
                  <a:srgbClr val="3C3C3C"/>
                </a:solidFill>
                <a:latin typeface="Arial"/>
              </a:rPr>
              <a:t>Canada</a:t>
            </a:r>
          </a:p>
        </p:txBody>
      </p:sp>
      <p:sp>
        <p:nvSpPr>
          <p:cNvPr id="11" name="TextBox 10"/>
          <p:cNvSpPr txBox="1"/>
          <p:nvPr/>
        </p:nvSpPr>
        <p:spPr>
          <a:xfrm>
            <a:off x="274320" y="2743200"/>
            <a:ext cx="5029200" cy="1828800"/>
          </a:xfrm>
          <a:prstGeom prst="rect">
            <a:avLst/>
          </a:prstGeom>
          <a:noFill/>
        </p:spPr>
        <p:txBody>
          <a:bodyPr wrap="square">
            <a:spAutoFit/>
          </a:bodyPr>
          <a:lstStyle/>
          <a:p>
            <a:r>
              <a:rPr sz="1200" b="1">
                <a:solidFill>
                  <a:srgbClr val="2D235A"/>
                </a:solidFill>
                <a:latin typeface="Arial"/>
              </a:rPr>
              <a:t>Product Portfolio</a:t>
            </a:r>
          </a:p>
          <a:p>
            <a:pPr>
              <a:spcBef>
                <a:spcPts val="200"/>
              </a:spcBef>
              <a:defRPr sz="900">
                <a:solidFill>
                  <a:srgbClr val="3C3C3C"/>
                </a:solidFill>
                <a:latin typeface="Arial"/>
              </a:defRPr>
            </a:pPr>
            <a:r>
              <a:t>• Cinematic Experience</a:t>
            </a:r>
          </a:p>
          <a:p>
            <a:pPr>
              <a:spcBef>
                <a:spcPts val="200"/>
              </a:spcBef>
              <a:defRPr sz="900">
                <a:solidFill>
                  <a:srgbClr val="3C3C3C"/>
                </a:solidFill>
                <a:latin typeface="Arial"/>
              </a:defRPr>
            </a:pPr>
            <a:r>
              <a:t>• Management Services</a:t>
            </a:r>
          </a:p>
        </p:txBody>
      </p:sp>
      <p:sp>
        <p:nvSpPr>
          <p:cNvPr id="12" name="TextBox 11"/>
          <p:cNvSpPr txBox="1"/>
          <p:nvPr/>
        </p:nvSpPr>
        <p:spPr>
          <a:xfrm>
            <a:off x="5943600" y="2743200"/>
            <a:ext cx="5029200" cy="1828800"/>
          </a:xfrm>
          <a:prstGeom prst="rect">
            <a:avLst/>
          </a:prstGeom>
          <a:noFill/>
        </p:spPr>
        <p:txBody>
          <a:bodyPr wrap="square">
            <a:spAutoFit/>
          </a:bodyPr>
          <a:lstStyle/>
          <a:p>
            <a:r>
              <a:rPr sz="1200" b="1">
                <a:solidFill>
                  <a:srgbClr val="2D235A"/>
                </a:solidFill>
                <a:latin typeface="Arial"/>
              </a:rPr>
              <a:t>Industries Served</a:t>
            </a:r>
          </a:p>
          <a:p>
            <a:pPr>
              <a:spcBef>
                <a:spcPts val="200"/>
              </a:spcBef>
              <a:defRPr sz="900">
                <a:solidFill>
                  <a:srgbClr val="3C3C3C"/>
                </a:solidFill>
                <a:latin typeface="Arial"/>
              </a:defRPr>
            </a:pPr>
            <a:r>
              <a:t>• Entertainment</a:t>
            </a:r>
          </a:p>
        </p:txBody>
      </p:sp>
      <p:sp>
        <p:nvSpPr>
          <p:cNvPr id="13" name="TextBox 12"/>
          <p:cNvSpPr txBox="1"/>
          <p:nvPr/>
        </p:nvSpPr>
        <p:spPr>
          <a:xfrm>
            <a:off x="274320" y="5029200"/>
            <a:ext cx="10972800" cy="1097280"/>
          </a:xfrm>
          <a:prstGeom prst="rect">
            <a:avLst/>
          </a:prstGeom>
          <a:noFill/>
        </p:spPr>
        <p:txBody>
          <a:bodyPr wrap="square">
            <a:spAutoFit/>
          </a:bodyPr>
          <a:lstStyle/>
          <a:p>
            <a:r>
              <a:rPr sz="1000" b="1">
                <a:solidFill>
                  <a:srgbClr val="2D235A"/>
                </a:solidFill>
                <a:latin typeface="Arial"/>
              </a:rPr>
              <a:t>Certifications: </a:t>
            </a:r>
            <a:r>
              <a:rPr sz="900">
                <a:solidFill>
                  <a:srgbClr val="3C3C3C"/>
                </a:solidFill>
                <a:latin typeface="Arial"/>
              </a:rPr>
              <a:t/>
            </a:r>
          </a:p>
        </p:txBody>
      </p:sp>
      <p:sp>
        <p:nvSpPr>
          <p:cNvPr id="14" name="TextBox 13"/>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Growth &amp; Unit Economics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ounded Rectangle 4"/>
          <p:cNvSpPr/>
          <p:nvPr/>
        </p:nvSpPr>
        <p:spPr>
          <a:xfrm>
            <a:off x="45720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141.4%</a:t>
            </a:r>
          </a:p>
          <a:p>
            <a:pPr algn="ctr"/>
            <a:r>
              <a:rPr sz="900">
                <a:solidFill>
                  <a:srgbClr val="C8C8C8"/>
                </a:solidFill>
                <a:latin typeface="Arial"/>
              </a:rPr>
              <a:t>Revenue CAGR</a:t>
            </a:r>
          </a:p>
        </p:txBody>
      </p:sp>
      <p:sp>
        <p:nvSpPr>
          <p:cNvPr id="6" name="Rounded Rectangle 5"/>
          <p:cNvSpPr/>
          <p:nvPr/>
        </p:nvSpPr>
        <p:spPr>
          <a:xfrm>
            <a:off x="329184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27.4%</a:t>
            </a:r>
          </a:p>
          <a:p>
            <a:pPr algn="ctr"/>
            <a:r>
              <a:rPr sz="900">
                <a:solidFill>
                  <a:srgbClr val="C8C8C8"/>
                </a:solidFill>
                <a:latin typeface="Arial"/>
              </a:rPr>
              <a:t>EBITDA Margin</a:t>
            </a:r>
          </a:p>
        </p:txBody>
      </p:sp>
      <p:sp>
        <p:nvSpPr>
          <p:cNvPr id="7" name="Rounded Rectangle 6"/>
          <p:cNvSpPr/>
          <p:nvPr/>
        </p:nvSpPr>
        <p:spPr>
          <a:xfrm>
            <a:off x="612648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22.3%</a:t>
            </a:r>
          </a:p>
          <a:p>
            <a:pPr algn="ctr"/>
            <a:r>
              <a:rPr sz="900">
                <a:solidFill>
                  <a:srgbClr val="C8C8C8"/>
                </a:solidFill>
                <a:latin typeface="Arial"/>
              </a:rPr>
              <a:t>RoCE</a:t>
            </a:r>
          </a:p>
        </p:txBody>
      </p:sp>
      <p:sp>
        <p:nvSpPr>
          <p:cNvPr id="8" name="Rounded Rectangle 7"/>
          <p:cNvSpPr/>
          <p:nvPr/>
        </p:nvSpPr>
        <p:spPr>
          <a:xfrm>
            <a:off x="896112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51.7%</a:t>
            </a:r>
          </a:p>
          <a:p>
            <a:pPr algn="ctr"/>
            <a:r>
              <a:rPr sz="900">
                <a:solidFill>
                  <a:srgbClr val="C8C8C8"/>
                </a:solidFill>
                <a:latin typeface="Arial"/>
              </a:rPr>
              <a:t>ROE</a:t>
            </a:r>
          </a:p>
        </p:txBody>
      </p:sp>
      <p:graphicFrame>
        <p:nvGraphicFramePr>
          <p:cNvPr id="9" name="Chart 8"/>
          <p:cNvGraphicFramePr>
            <a:graphicFrameLocks noGrp="1"/>
          </p:cNvGraphicFramePr>
          <p:nvPr/>
        </p:nvGraphicFramePr>
        <p:xfrm>
          <a:off x="457200" y="2011680"/>
          <a:ext cx="5943600" cy="3200400"/>
        </p:xfrm>
        <a:graphic>
          <a:graphicData uri="http://schemas.openxmlformats.org/drawingml/2006/chart">
            <c:chart xmlns:c="http://schemas.openxmlformats.org/drawingml/2006/chart" r:id="rId2"/>
          </a:graphicData>
        </a:graphic>
      </p:graphicFrame>
      <p:sp>
        <p:nvSpPr>
          <p:cNvPr id="10" name="TextBox 9"/>
          <p:cNvSpPr txBox="1"/>
          <p:nvPr/>
        </p:nvSpPr>
        <p:spPr>
          <a:xfrm>
            <a:off x="6858000" y="2743200"/>
            <a:ext cx="4572000" cy="1828800"/>
          </a:xfrm>
          <a:prstGeom prst="rect">
            <a:avLst/>
          </a:prstGeom>
          <a:noFill/>
        </p:spPr>
        <p:txBody>
          <a:bodyPr wrap="square">
            <a:spAutoFit/>
          </a:bodyPr>
          <a:lstStyle/>
          <a:p>
            <a:pPr>
              <a:defRPr sz="1100">
                <a:solidFill>
                  <a:srgbClr val="3C3C3C"/>
                </a:solidFill>
                <a:latin typeface="Arial"/>
              </a:defRPr>
            </a:pPr>
            <a:r>
              <a:t>The company has demonstrated exceptional financial growth, achieving a remarkable revenue CAGR of 141.4% over the last five years, underscoring its strong market position in the entertainment sector.</a:t>
            </a:r>
          </a:p>
        </p:txBody>
      </p:sp>
      <p:sp>
        <p:nvSpPr>
          <p:cNvPr id="11" name="TextBox 10"/>
          <p:cNvSpPr txBox="1"/>
          <p:nvPr/>
        </p:nvSpPr>
        <p:spPr>
          <a:xfrm>
            <a:off x="6858000" y="4572000"/>
            <a:ext cx="4572000" cy="1645920"/>
          </a:xfrm>
          <a:prstGeom prst="rect">
            <a:avLst/>
          </a:prstGeom>
          <a:noFill/>
        </p:spPr>
        <p:txBody>
          <a:bodyPr wrap="square">
            <a:spAutoFit/>
          </a:bodyPr>
          <a:lstStyle/>
          <a:p>
            <a:r>
              <a:rPr sz="1200" b="1">
                <a:solidFill>
                  <a:srgbClr val="2D235A"/>
                </a:solidFill>
                <a:latin typeface="Arial"/>
              </a:rPr>
              <a:t>Key Achievements</a:t>
            </a:r>
          </a:p>
          <a:p>
            <a:pPr>
              <a:spcBef>
                <a:spcPts val="200"/>
              </a:spcBef>
              <a:defRPr sz="900">
                <a:solidFill>
                  <a:srgbClr val="3C3C3C"/>
                </a:solidFill>
                <a:latin typeface="Arial"/>
              </a:defRPr>
            </a:pPr>
            <a:r>
              <a:t>• Achieved a revenue increase from 68.2 million to 959.9 million in just three years.</a:t>
            </a:r>
          </a:p>
          <a:p>
            <a:pPr>
              <a:spcBef>
                <a:spcPts val="200"/>
              </a:spcBef>
              <a:defRPr sz="900">
                <a:solidFill>
                  <a:srgbClr val="3C3C3C"/>
                </a:solidFill>
                <a:latin typeface="Arial"/>
              </a:defRPr>
            </a:pPr>
            <a:r>
              <a:t>• Increased EBITDA from 14.0 million to 262.5 million, reflecting robust operational efficiency.</a:t>
            </a:r>
          </a:p>
          <a:p>
            <a:pPr>
              <a:spcBef>
                <a:spcPts val="200"/>
              </a:spcBef>
              <a:defRPr sz="900">
                <a:solidFill>
                  <a:srgbClr val="3C3C3C"/>
                </a:solidFill>
                <a:latin typeface="Arial"/>
              </a:defRPr>
            </a:pPr>
            <a:r>
              <a:t>• Maintained a strong PAT margin of 19.0%, showcasing profitability amidst rapid growth.</a:t>
            </a:r>
          </a:p>
        </p:txBody>
      </p:sp>
      <p:sp>
        <p:nvSpPr>
          <p:cNvPr id="12" name="TextBox 11"/>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Investment Highlights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pic>
        <p:nvPicPr>
          <p:cNvPr id="5" name="Picture 4" descr="cinema_entertainment_theater_unsplash.jpg"/>
          <p:cNvPicPr>
            <a:picLocks noChangeAspect="1"/>
          </p:cNvPicPr>
          <p:nvPr/>
        </p:nvPicPr>
        <p:blipFill>
          <a:blip r:embed="rId2"/>
          <a:stretch>
            <a:fillRect/>
          </a:stretch>
        </p:blipFill>
        <p:spPr>
          <a:xfrm>
            <a:off x="274320" y="1371600"/>
            <a:ext cx="3657600" cy="3657600"/>
          </a:xfrm>
          <a:prstGeom prst="rect">
            <a:avLst/>
          </a:prstGeom>
        </p:spPr>
      </p:pic>
      <p:sp>
        <p:nvSpPr>
          <p:cNvPr id="6" name="Oval 5"/>
          <p:cNvSpPr/>
          <p:nvPr/>
        </p:nvSpPr>
        <p:spPr>
          <a:xfrm>
            <a:off x="4389120" y="12801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280160"/>
            <a:ext cx="6858000" cy="822960"/>
          </a:xfrm>
          <a:prstGeom prst="rect">
            <a:avLst/>
          </a:prstGeom>
          <a:noFill/>
        </p:spPr>
        <p:txBody>
          <a:bodyPr wrap="square">
            <a:spAutoFit/>
          </a:bodyPr>
          <a:lstStyle/>
          <a:p>
            <a:r>
              <a:rPr sz="1200" b="1">
                <a:solidFill>
                  <a:srgbClr val="2D235A"/>
                </a:solidFill>
                <a:latin typeface="Arial"/>
              </a:rPr>
              <a:t>Impressive Revenue Growth</a:t>
            </a:r>
          </a:p>
          <a:p>
            <a:pPr>
              <a:defRPr sz="1000">
                <a:solidFill>
                  <a:srgbClr val="3C3C3C"/>
                </a:solidFill>
                <a:latin typeface="Arial"/>
              </a:defRPr>
            </a:pPr>
            <a:r>
              <a:t>Total income soared 59% to ₹96.78 crores in FY25, showcasing robust demand and market positioning.</a:t>
            </a:r>
          </a:p>
        </p:txBody>
      </p:sp>
      <p:sp>
        <p:nvSpPr>
          <p:cNvPr id="8" name="Oval 7"/>
          <p:cNvSpPr/>
          <p:nvPr/>
        </p:nvSpPr>
        <p:spPr>
          <a:xfrm>
            <a:off x="4389120" y="21945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6858000" cy="822960"/>
          </a:xfrm>
          <a:prstGeom prst="rect">
            <a:avLst/>
          </a:prstGeom>
          <a:noFill/>
        </p:spPr>
        <p:txBody>
          <a:bodyPr wrap="square">
            <a:spAutoFit/>
          </a:bodyPr>
          <a:lstStyle/>
          <a:p>
            <a:r>
              <a:rPr sz="1200" b="1">
                <a:solidFill>
                  <a:srgbClr val="2D235A"/>
                </a:solidFill>
                <a:latin typeface="Arial"/>
              </a:rPr>
              <a:t>Exceptional Profitability Surge</a:t>
            </a:r>
          </a:p>
          <a:p>
            <a:pPr>
              <a:defRPr sz="1000">
                <a:solidFill>
                  <a:srgbClr val="3C3C3C"/>
                </a:solidFill>
                <a:latin typeface="Arial"/>
              </a:defRPr>
            </a:pPr>
            <a:r>
              <a:t>PAT skyrocketed 365% to ₹19.01 crores in FY25, reflecting outstanding operational efficiency and profitability.</a:t>
            </a:r>
          </a:p>
        </p:txBody>
      </p:sp>
      <p:sp>
        <p:nvSpPr>
          <p:cNvPr id="10" name="Oval 9"/>
          <p:cNvSpPr/>
          <p:nvPr/>
        </p:nvSpPr>
        <p:spPr>
          <a:xfrm>
            <a:off x="4389120" y="31089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108960"/>
            <a:ext cx="6858000" cy="822960"/>
          </a:xfrm>
          <a:prstGeom prst="rect">
            <a:avLst/>
          </a:prstGeom>
          <a:noFill/>
        </p:spPr>
        <p:txBody>
          <a:bodyPr wrap="square">
            <a:spAutoFit/>
          </a:bodyPr>
          <a:lstStyle/>
          <a:p>
            <a:r>
              <a:rPr sz="1200" b="1">
                <a:solidFill>
                  <a:srgbClr val="2D235A"/>
                </a:solidFill>
                <a:latin typeface="Arial"/>
              </a:rPr>
              <a:t>Strong Return on Equity</a:t>
            </a:r>
          </a:p>
          <a:p>
            <a:pPr>
              <a:defRPr sz="1000">
                <a:solidFill>
                  <a:srgbClr val="3C3C3C"/>
                </a:solidFill>
                <a:latin typeface="Arial"/>
              </a:defRPr>
            </a:pPr>
            <a:r>
              <a:t>Achieved a remarkable ROE of 77% in Mar-2025, indicating superior equity utilization and financial health.</a:t>
            </a:r>
          </a:p>
        </p:txBody>
      </p:sp>
      <p:sp>
        <p:nvSpPr>
          <p:cNvPr id="12" name="Oval 11"/>
          <p:cNvSpPr/>
          <p:nvPr/>
        </p:nvSpPr>
        <p:spPr>
          <a:xfrm>
            <a:off x="4389120" y="40233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23360"/>
            <a:ext cx="6858000" cy="822960"/>
          </a:xfrm>
          <a:prstGeom prst="rect">
            <a:avLst/>
          </a:prstGeom>
          <a:noFill/>
        </p:spPr>
        <p:txBody>
          <a:bodyPr wrap="square">
            <a:spAutoFit/>
          </a:bodyPr>
          <a:lstStyle/>
          <a:p>
            <a:r>
              <a:rPr sz="1200" b="1">
                <a:solidFill>
                  <a:srgbClr val="2D235A"/>
                </a:solidFill>
                <a:latin typeface="Arial"/>
              </a:rPr>
              <a:t>Thriving Entertainment Market</a:t>
            </a:r>
          </a:p>
          <a:p>
            <a:pPr>
              <a:defRPr sz="1000">
                <a:solidFill>
                  <a:srgbClr val="3C3C3C"/>
                </a:solidFill>
                <a:latin typeface="Arial"/>
              </a:defRPr>
            </a:pPr>
            <a:r>
              <a:t>India's entertainment &amp; media industry is projected to reach ₹412,656 crores by 2025, growing at a robust 10.75% CAGR.</a:t>
            </a:r>
          </a:p>
        </p:txBody>
      </p:sp>
      <p:sp>
        <p:nvSpPr>
          <p:cNvPr id="14" name="Oval 13"/>
          <p:cNvSpPr/>
          <p:nvPr/>
        </p:nvSpPr>
        <p:spPr>
          <a:xfrm>
            <a:off x="4389120" y="49377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937760"/>
            <a:ext cx="6858000" cy="822960"/>
          </a:xfrm>
          <a:prstGeom prst="rect">
            <a:avLst/>
          </a:prstGeom>
          <a:noFill/>
        </p:spPr>
        <p:txBody>
          <a:bodyPr wrap="square">
            <a:spAutoFit/>
          </a:bodyPr>
          <a:lstStyle/>
          <a:p>
            <a:r>
              <a:rPr sz="1200" b="1">
                <a:solidFill>
                  <a:srgbClr val="2D235A"/>
                </a:solidFill>
                <a:latin typeface="Arial"/>
              </a:rPr>
              <a:t>Strategic Expansion Plans</a:t>
            </a:r>
          </a:p>
          <a:p>
            <a:pPr>
              <a:defRPr sz="1000">
                <a:solidFill>
                  <a:srgbClr val="3C3C3C"/>
                </a:solidFill>
                <a:latin typeface="Arial"/>
              </a:defRPr>
            </a:pPr>
            <a:r>
              <a:t>Aiming to enhance multiplex technology and expand into new urban markets, positioning for future growth and scalability.</a:t>
            </a:r>
          </a:p>
        </p:txBody>
      </p:sp>
      <p:sp>
        <p:nvSpPr>
          <p:cNvPr id="16" name="TextBox 15"/>
          <p:cNvSpPr txBox="1"/>
          <p:nvPr/>
        </p:nvSpPr>
        <p:spPr>
          <a:xfrm>
            <a:off x="457200" y="5760720"/>
            <a:ext cx="10972800" cy="457200"/>
          </a:xfrm>
          <a:prstGeom prst="rect">
            <a:avLst/>
          </a:prstGeom>
          <a:noFill/>
        </p:spPr>
        <p:txBody>
          <a:bodyPr wrap="none">
            <a:spAutoFit/>
          </a:bodyPr>
          <a:lstStyle/>
          <a:p>
            <a:pPr algn="ctr">
              <a:defRPr sz="1200" i="1">
                <a:solidFill>
                  <a:srgbClr val="3C3C3C"/>
                </a:solidFill>
                <a:latin typeface="Arial"/>
              </a:defRPr>
            </a:pPr>
            <a:r>
              <a:t>Invest in a company poised for exponential growth in a booming entertainment landscape.</a:t>
            </a:r>
          </a:p>
        </p:txBody>
      </p:sp>
      <p:sp>
        <p:nvSpPr>
          <p:cNvPr id="17" name="TextBox 16"/>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1645920"/>
            <a:ext cx="10972800" cy="731520"/>
          </a:xfrm>
          <a:prstGeom prst="rect">
            <a:avLst/>
          </a:prstGeom>
          <a:noFill/>
        </p:spPr>
        <p:txBody>
          <a:bodyPr wrap="none">
            <a:spAutoFit/>
          </a:bodyPr>
          <a:lstStyle/>
          <a:p>
            <a:r>
              <a:rPr sz="3600" b="1">
                <a:solidFill>
                  <a:srgbClr val="FFFFFF"/>
                </a:solidFill>
                <a:latin typeface="Arial"/>
              </a:rPr>
              <a:t>Important Notice &amp; Disclaimer</a:t>
            </a:r>
          </a:p>
        </p:txBody>
      </p:sp>
      <p:sp>
        <p:nvSpPr>
          <p:cNvPr id="4" name="TextBox 3"/>
          <p:cNvSpPr txBox="1"/>
          <p:nvPr/>
        </p:nvSpPr>
        <p:spPr>
          <a:xfrm>
            <a:off x="457200" y="2743200"/>
            <a:ext cx="10972800" cy="2743200"/>
          </a:xfrm>
          <a:prstGeom prst="rect">
            <a:avLst/>
          </a:prstGeom>
          <a:noFill/>
        </p:spPr>
        <p:txBody>
          <a:bodyPr wrap="square">
            <a:spAutoFit/>
          </a:bodyPr>
          <a:lstStyle/>
          <a:p>
            <a:pPr>
              <a:lnSpc>
                <a:spcPct val="150000"/>
              </a:lnSpc>
            </a:pPr>
            <a:r>
              <a:rPr sz="1400">
                <a:solidFill>
                  <a:srgbClr val="C8C8C8"/>
                </a:solidFill>
                <a:latin typeface="Arial"/>
              </a:rP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based on current assumptions; actual results may vary materially.</a:t>
            </a:r>
          </a:p>
        </p:txBody>
      </p:sp>
      <p:sp>
        <p:nvSpPr>
          <p:cNvPr id="5" name="TextBox 4"/>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