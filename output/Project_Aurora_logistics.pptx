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c:v>
                </c:pt>
              </c:strCache>
            </c:strRef>
          </c:tx>
          <c:spPr>
            <a:solidFill>
              <a:srgbClr val="2D235A"/>
            </a:solidFill>
          </c:spPr>
          <c:cat>
            <c:strRef>
              <c:f>Sheet1!$A$2:$A$6</c:f>
              <c:strCache>
                <c:ptCount val="5"/>
                <c:pt idx="0">
                  <c:v>FY21</c:v>
                </c:pt>
                <c:pt idx="1">
                  <c:v>FY22</c:v>
                </c:pt>
                <c:pt idx="2">
                  <c:v>FY23</c:v>
                </c:pt>
                <c:pt idx="3">
                  <c:v>FY24</c:v>
                </c:pt>
                <c:pt idx="4">
                  <c:v>FY25</c:v>
                </c:pt>
              </c:strCache>
            </c:strRef>
          </c:cat>
          <c:val>
            <c:numRef>
              <c:f>Sheet1!$B$2:$B$6</c:f>
              <c:numCache>
                <c:formatCode>General</c:formatCode>
                <c:ptCount val="5"/>
                <c:pt idx="0">
                  <c:v>13142.4</c:v>
                </c:pt>
                <c:pt idx="1">
                  <c:v>14899.4</c:v>
                </c:pt>
                <c:pt idx="2">
                  <c:v>17231.7</c:v>
                </c:pt>
                <c:pt idx="3">
                  <c:v>16979.9</c:v>
                </c:pt>
                <c:pt idx="4">
                  <c:v>15100.1</c:v>
                </c:pt>
              </c:numCache>
            </c:numRef>
          </c:val>
        </c:ser>
        <c:ser>
          <c:idx val="1"/>
          <c:order val="1"/>
          <c:tx>
            <c:strRef>
              <c:f>Sheet1!$C$1</c:f>
              <c:strCache>
                <c:ptCount val="1"/>
                <c:pt idx="0">
                  <c:v>EBITDA</c:v>
                </c:pt>
              </c:strCache>
            </c:strRef>
          </c:tx>
          <c:spPr>
            <a:solidFill>
              <a:srgbClr val="00C8FF"/>
            </a:solidFill>
          </c:spPr>
          <c:cat>
            <c:strRef>
              <c:f>Sheet1!$A$2:$A$6</c:f>
              <c:strCache>
                <c:ptCount val="5"/>
                <c:pt idx="0">
                  <c:v>FY21</c:v>
                </c:pt>
                <c:pt idx="1">
                  <c:v>FY22</c:v>
                </c:pt>
                <c:pt idx="2">
                  <c:v>FY23</c:v>
                </c:pt>
                <c:pt idx="3">
                  <c:v>FY24</c:v>
                </c:pt>
                <c:pt idx="4">
                  <c:v>FY25</c:v>
                </c:pt>
              </c:strCache>
            </c:strRef>
          </c:cat>
          <c:val>
            <c:numRef>
              <c:f>Sheet1!$C$2:$C$6</c:f>
              <c:numCache>
                <c:formatCode>General</c:formatCode>
                <c:ptCount val="5"/>
                <c:pt idx="0">
                  <c:v>271.5</c:v>
                </c:pt>
                <c:pt idx="1">
                  <c:v>343.9</c:v>
                </c:pt>
                <c:pt idx="2">
                  <c:v>700.4</c:v>
                </c:pt>
                <c:pt idx="3">
                  <c:v>519.0</c:v>
                </c:pt>
                <c:pt idx="4">
                  <c:v>645.1</c:v>
                </c:pt>
              </c:numCache>
            </c:numRef>
          </c:val>
        </c:ser>
        <c:ser>
          <c:idx val="2"/>
          <c:order val="2"/>
          <c:tx>
            <c:strRef>
              <c:f>Sheet1!$D$1</c:f>
              <c:strCache>
                <c:ptCount val="1"/>
                <c:pt idx="0">
                  <c:v>PAT</c:v>
                </c:pt>
              </c:strCache>
            </c:strRef>
          </c:tx>
          <c:spPr>
            <a:solidFill>
              <a:srgbClr val="FF6482"/>
            </a:solidFill>
          </c:spPr>
          <c:cat>
            <c:strRef>
              <c:f>Sheet1!$A$2:$A$6</c:f>
              <c:strCache>
                <c:ptCount val="5"/>
                <c:pt idx="0">
                  <c:v>FY21</c:v>
                </c:pt>
                <c:pt idx="1">
                  <c:v>FY22</c:v>
                </c:pt>
                <c:pt idx="2">
                  <c:v>FY23</c:v>
                </c:pt>
                <c:pt idx="3">
                  <c:v>FY24</c:v>
                </c:pt>
                <c:pt idx="4">
                  <c:v>FY25</c:v>
                </c:pt>
              </c:strCache>
            </c:strRef>
          </c:cat>
          <c:val>
            <c:numRef>
              <c:f>Sheet1!$D$2:$D$6</c:f>
              <c:numCache>
                <c:formatCode>General</c:formatCode>
                <c:ptCount val="5"/>
                <c:pt idx="0">
                  <c:v>-410.7</c:v>
                </c:pt>
                <c:pt idx="1">
                  <c:v>-164.8</c:v>
                </c:pt>
                <c:pt idx="2">
                  <c:v>-118.7</c:v>
                </c:pt>
                <c:pt idx="3">
                  <c:v>-283.7</c:v>
                </c:pt>
                <c:pt idx="4">
                  <c:v>-186.2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2286000"/>
            <a:ext cx="9144000" cy="1371600"/>
          </a:xfrm>
          <a:prstGeom prst="rect">
            <a:avLst/>
          </a:prstGeom>
          <a:noFill/>
        </p:spPr>
        <p:txBody>
          <a:bodyPr wrap="none">
            <a:spAutoFit/>
          </a:bodyPr>
          <a:lstStyle/>
          <a:p>
            <a:r>
              <a:rPr sz="5400" b="1">
                <a:solidFill>
                  <a:srgbClr val="FFFFFF"/>
                </a:solidFill>
                <a:latin typeface="Arial"/>
              </a:rPr>
              <a:t>Project Aurora</a:t>
            </a:r>
          </a:p>
        </p:txBody>
      </p:sp>
      <p:sp>
        <p:nvSpPr>
          <p:cNvPr id="4" name="TextBox 3"/>
          <p:cNvSpPr txBox="1"/>
          <p:nvPr/>
        </p:nvSpPr>
        <p:spPr>
          <a:xfrm>
            <a:off x="457200" y="3840480"/>
            <a:ext cx="5486400" cy="731520"/>
          </a:xfrm>
          <a:prstGeom prst="rect">
            <a:avLst/>
          </a:prstGeom>
          <a:noFill/>
        </p:spPr>
        <p:txBody>
          <a:bodyPr wrap="none">
            <a:spAutoFit/>
          </a:bodyPr>
          <a:lstStyle/>
          <a:p>
            <a:r>
              <a:rPr sz="2400">
                <a:solidFill>
                  <a:srgbClr val="FFFFFF"/>
                </a:solidFill>
                <a:latin typeface="Arial"/>
              </a:rPr>
              <a:t>Investment Brief</a:t>
            </a:r>
          </a:p>
        </p:txBody>
      </p:sp>
      <p:sp>
        <p:nvSpPr>
          <p:cNvPr id="5" name="TextBox 4"/>
          <p:cNvSpPr txBox="1"/>
          <p:nvPr/>
        </p:nvSpPr>
        <p:spPr>
          <a:xfrm>
            <a:off x="457200" y="4572000"/>
            <a:ext cx="3657600" cy="457200"/>
          </a:xfrm>
          <a:prstGeom prst="rect">
            <a:avLst/>
          </a:prstGeom>
          <a:noFill/>
        </p:spPr>
        <p:txBody>
          <a:bodyPr wrap="none">
            <a:spAutoFit/>
          </a:bodyPr>
          <a:lstStyle/>
          <a:p>
            <a:r>
              <a:rPr sz="1400" i="1">
                <a:solidFill>
                  <a:srgbClr val="B4B4B4"/>
                </a:solidFill>
                <a:latin typeface="Arial"/>
              </a:rPr>
              <a:t>kelpglobal.com</a:t>
            </a:r>
          </a:p>
        </p:txBody>
      </p:sp>
      <p:sp>
        <p:nvSpPr>
          <p:cNvPr id="6" name="TextBox 5"/>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Network &amp; Infrastructure</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ectangle 4"/>
          <p:cNvSpPr/>
          <p:nvPr/>
        </p:nvSpPr>
        <p:spPr>
          <a:xfrm>
            <a:off x="274320" y="1005840"/>
            <a:ext cx="6858000" cy="32004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51560"/>
            <a:ext cx="6400800" cy="274320"/>
          </a:xfrm>
          <a:prstGeom prst="rect">
            <a:avLst/>
          </a:prstGeom>
          <a:noFill/>
        </p:spPr>
        <p:txBody>
          <a:bodyPr wrap="none">
            <a:spAutoFit/>
          </a:bodyPr>
          <a:lstStyle/>
          <a:p>
            <a:r>
              <a:rPr sz="1200" b="1">
                <a:solidFill>
                  <a:srgbClr val="FFFFFF"/>
                </a:solidFill>
                <a:latin typeface="Arial"/>
              </a:rPr>
              <a:t>Business Overview:</a:t>
            </a:r>
          </a:p>
        </p:txBody>
      </p:sp>
      <p:sp>
        <p:nvSpPr>
          <p:cNvPr id="7" name="TextBox 6"/>
          <p:cNvSpPr txBox="1"/>
          <p:nvPr/>
        </p:nvSpPr>
        <p:spPr>
          <a:xfrm>
            <a:off x="274320" y="1371600"/>
            <a:ext cx="6858000" cy="1280160"/>
          </a:xfrm>
          <a:prstGeom prst="rect">
            <a:avLst/>
          </a:prstGeom>
          <a:noFill/>
        </p:spPr>
        <p:txBody>
          <a:bodyPr wrap="square">
            <a:spAutoFit/>
          </a:bodyPr>
          <a:lstStyle/>
          <a:p>
            <a:pPr>
              <a:defRPr sz="1000">
                <a:solidFill>
                  <a:srgbClr val="3C3C3C"/>
                </a:solidFill>
                <a:latin typeface="Arial"/>
              </a:defRPr>
            </a:pPr>
            <a:r>
              <a:t>The Company is a premier logistics and supply chain management provider in India, offering customized solutions across diverse sectors such as e-commerce and automotive. With over three decades of experience, it utilizes advanced technology for efficient operations and real-time tracking, underscoring its commitment to sustainability and operational excellence.</a:t>
            </a:r>
          </a:p>
        </p:txBody>
      </p:sp>
      <p:sp>
        <p:nvSpPr>
          <p:cNvPr id="8" name="Rectangle 7"/>
          <p:cNvSpPr/>
          <p:nvPr/>
        </p:nvSpPr>
        <p:spPr>
          <a:xfrm>
            <a:off x="7315200" y="1005840"/>
            <a:ext cx="4389120" cy="3200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051560"/>
            <a:ext cx="4114800" cy="274320"/>
          </a:xfrm>
          <a:prstGeom prst="rect">
            <a:avLst/>
          </a:prstGeom>
          <a:noFill/>
        </p:spPr>
        <p:txBody>
          <a:bodyPr wrap="none">
            <a:spAutoFit/>
          </a:bodyPr>
          <a:lstStyle/>
          <a:p>
            <a:r>
              <a:rPr sz="1200" b="1">
                <a:solidFill>
                  <a:srgbClr val="FFFFFF"/>
                </a:solidFill>
                <a:latin typeface="Arial"/>
              </a:rPr>
              <a:t>At a Glance</a:t>
            </a:r>
          </a:p>
        </p:txBody>
      </p:sp>
      <p:sp>
        <p:nvSpPr>
          <p:cNvPr id="10" name="TextBox 9"/>
          <p:cNvSpPr txBox="1"/>
          <p:nvPr/>
        </p:nvSpPr>
        <p:spPr>
          <a:xfrm>
            <a:off x="7315200" y="1371600"/>
            <a:ext cx="4389120" cy="2011680"/>
          </a:xfrm>
          <a:prstGeom prst="rect">
            <a:avLst/>
          </a:prstGeom>
          <a:noFill/>
        </p:spPr>
        <p:txBody>
          <a:bodyPr wrap="square">
            <a:spAutoFit/>
          </a:bodyPr>
          <a:lstStyle/>
          <a:p>
            <a:r>
              <a:rPr sz="1400" b="1">
                <a:solidFill>
                  <a:srgbClr val="00C8FF"/>
                </a:solidFill>
                <a:latin typeface="Arial"/>
              </a:rPr>
              <a:t>At a Glance</a:t>
            </a:r>
          </a:p>
          <a:p>
            <a:pPr>
              <a:spcBef>
                <a:spcPts val="400"/>
              </a:spcBef>
            </a:pPr>
            <a:r>
              <a:rPr sz="1000" b="1">
                <a:solidFill>
                  <a:srgbClr val="3C3C3C"/>
                </a:solidFill>
                <a:latin typeface="Arial"/>
              </a:rPr>
              <a:t>Founded: </a:t>
            </a:r>
            <a:r>
              <a:rPr sz="1000">
                <a:solidFill>
                  <a:srgbClr val="3C3C3C"/>
                </a:solidFill>
                <a:latin typeface="Arial"/>
              </a:rPr>
              <a:t>1995</a:t>
            </a:r>
          </a:p>
          <a:p>
            <a:pPr>
              <a:spcBef>
                <a:spcPts val="400"/>
              </a:spcBef>
            </a:pPr>
            <a:r>
              <a:rPr sz="1000" b="1">
                <a:solidFill>
                  <a:srgbClr val="3C3C3C"/>
                </a:solidFill>
                <a:latin typeface="Arial"/>
              </a:rPr>
              <a:t>Employees: </a:t>
            </a:r>
            <a:r>
              <a:rPr sz="1000">
                <a:solidFill>
                  <a:srgbClr val="3C3C3C"/>
                </a:solidFill>
                <a:latin typeface="Arial"/>
              </a:rPr>
              <a:t>5</a:t>
            </a:r>
          </a:p>
          <a:p>
            <a:pPr>
              <a:spcBef>
                <a:spcPts val="400"/>
              </a:spcBef>
            </a:pPr>
            <a:r>
              <a:rPr sz="1000" b="1">
                <a:solidFill>
                  <a:srgbClr val="3C3C3C"/>
                </a:solidFill>
                <a:latin typeface="Arial"/>
              </a:rPr>
              <a:t>Facilities: </a:t>
            </a:r>
            <a:r>
              <a:rPr sz="1000">
                <a:solidFill>
                  <a:srgbClr val="3C3C3C"/>
                </a:solidFill>
                <a:latin typeface="Arial"/>
              </a:rPr>
              <a:t>6 state-of-the-art facilities</a:t>
            </a:r>
          </a:p>
          <a:p>
            <a:pPr>
              <a:spcBef>
                <a:spcPts val="400"/>
              </a:spcBef>
            </a:pPr>
            <a:r>
              <a:rPr sz="1000" b="1">
                <a:solidFill>
                  <a:srgbClr val="3C3C3C"/>
                </a:solidFill>
                <a:latin typeface="Arial"/>
              </a:rPr>
              <a:t>Global Presence: </a:t>
            </a:r>
            <a:r>
              <a:rPr sz="1000">
                <a:solidFill>
                  <a:srgbClr val="3C3C3C"/>
                </a:solidFill>
                <a:latin typeface="Arial"/>
              </a:rPr>
              <a:t>India</a:t>
            </a:r>
          </a:p>
        </p:txBody>
      </p:sp>
      <p:sp>
        <p:nvSpPr>
          <p:cNvPr id="11" name="TextBox 10"/>
          <p:cNvSpPr txBox="1"/>
          <p:nvPr/>
        </p:nvSpPr>
        <p:spPr>
          <a:xfrm>
            <a:off x="274320" y="2743200"/>
            <a:ext cx="5029200" cy="1828800"/>
          </a:xfrm>
          <a:prstGeom prst="rect">
            <a:avLst/>
          </a:prstGeom>
          <a:noFill/>
        </p:spPr>
        <p:txBody>
          <a:bodyPr wrap="square">
            <a:spAutoFit/>
          </a:bodyPr>
          <a:lstStyle/>
          <a:p>
            <a:r>
              <a:rPr sz="1200" b="1">
                <a:solidFill>
                  <a:srgbClr val="2D235A"/>
                </a:solidFill>
                <a:latin typeface="Arial"/>
              </a:rPr>
              <a:t>Product Portfolio</a:t>
            </a:r>
          </a:p>
          <a:p>
            <a:pPr>
              <a:spcBef>
                <a:spcPts val="200"/>
              </a:spcBef>
              <a:defRPr sz="900">
                <a:solidFill>
                  <a:srgbClr val="3C3C3C"/>
                </a:solidFill>
                <a:latin typeface="Arial"/>
              </a:defRPr>
            </a:pPr>
            <a:r>
              <a:t>• Express Distribution</a:t>
            </a:r>
          </a:p>
          <a:p>
            <a:pPr>
              <a:spcBef>
                <a:spcPts val="200"/>
              </a:spcBef>
              <a:defRPr sz="900">
                <a:solidFill>
                  <a:srgbClr val="3C3C3C"/>
                </a:solidFill>
                <a:latin typeface="Arial"/>
              </a:defRPr>
            </a:pPr>
            <a:r>
              <a:t>• Supply Chain</a:t>
            </a:r>
          </a:p>
          <a:p>
            <a:pPr>
              <a:spcBef>
                <a:spcPts val="200"/>
              </a:spcBef>
              <a:defRPr sz="900">
                <a:solidFill>
                  <a:srgbClr val="3C3C3C"/>
                </a:solidFill>
                <a:latin typeface="Arial"/>
              </a:defRPr>
            </a:pPr>
            <a:r>
              <a:t>• Warehousing</a:t>
            </a:r>
          </a:p>
          <a:p>
            <a:pPr>
              <a:spcBef>
                <a:spcPts val="200"/>
              </a:spcBef>
              <a:defRPr sz="900">
                <a:solidFill>
                  <a:srgbClr val="3C3C3C"/>
                </a:solidFill>
                <a:latin typeface="Arial"/>
              </a:defRPr>
            </a:pPr>
            <a:r>
              <a:t>• Technology</a:t>
            </a:r>
          </a:p>
        </p:txBody>
      </p:sp>
      <p:sp>
        <p:nvSpPr>
          <p:cNvPr id="12" name="TextBox 11"/>
          <p:cNvSpPr txBox="1"/>
          <p:nvPr/>
        </p:nvSpPr>
        <p:spPr>
          <a:xfrm>
            <a:off x="5943600" y="2743200"/>
            <a:ext cx="5029200" cy="1828800"/>
          </a:xfrm>
          <a:prstGeom prst="rect">
            <a:avLst/>
          </a:prstGeom>
          <a:noFill/>
        </p:spPr>
        <p:txBody>
          <a:bodyPr wrap="square">
            <a:spAutoFit/>
          </a:bodyPr>
          <a:lstStyle/>
          <a:p>
            <a:r>
              <a:rPr sz="1200" b="1">
                <a:solidFill>
                  <a:srgbClr val="2D235A"/>
                </a:solidFill>
                <a:latin typeface="Arial"/>
              </a:rPr>
              <a:t>Industries Served</a:t>
            </a:r>
          </a:p>
          <a:p>
            <a:pPr>
              <a:spcBef>
                <a:spcPts val="200"/>
              </a:spcBef>
              <a:defRPr sz="900">
                <a:solidFill>
                  <a:srgbClr val="3C3C3C"/>
                </a:solidFill>
                <a:latin typeface="Arial"/>
              </a:defRPr>
            </a:pPr>
            <a:r>
              <a:t>• Chemical</a:t>
            </a:r>
          </a:p>
          <a:p>
            <a:pPr>
              <a:spcBef>
                <a:spcPts val="200"/>
              </a:spcBef>
              <a:defRPr sz="900">
                <a:solidFill>
                  <a:srgbClr val="3C3C3C"/>
                </a:solidFill>
                <a:latin typeface="Arial"/>
              </a:defRPr>
            </a:pPr>
            <a:r>
              <a:t>• Automotive</a:t>
            </a:r>
          </a:p>
          <a:p>
            <a:pPr>
              <a:spcBef>
                <a:spcPts val="200"/>
              </a:spcBef>
              <a:defRPr sz="900">
                <a:solidFill>
                  <a:srgbClr val="3C3C3C"/>
                </a:solidFill>
                <a:latin typeface="Arial"/>
              </a:defRPr>
            </a:pPr>
            <a:r>
              <a:t>• E-commerce</a:t>
            </a:r>
          </a:p>
        </p:txBody>
      </p:sp>
      <p:sp>
        <p:nvSpPr>
          <p:cNvPr id="13" name="TextBox 12"/>
          <p:cNvSpPr txBox="1"/>
          <p:nvPr/>
        </p:nvSpPr>
        <p:spPr>
          <a:xfrm>
            <a:off x="274320" y="5029200"/>
            <a:ext cx="10972800" cy="1097280"/>
          </a:xfrm>
          <a:prstGeom prst="rect">
            <a:avLst/>
          </a:prstGeom>
          <a:noFill/>
        </p:spPr>
        <p:txBody>
          <a:bodyPr wrap="square">
            <a:spAutoFit/>
          </a:bodyPr>
          <a:lstStyle/>
          <a:p>
            <a:r>
              <a:rPr sz="1000" b="1">
                <a:solidFill>
                  <a:srgbClr val="2D235A"/>
                </a:solidFill>
                <a:latin typeface="Arial"/>
              </a:rPr>
              <a:t>Certifications: </a:t>
            </a:r>
            <a:r>
              <a:rPr sz="900">
                <a:solidFill>
                  <a:srgbClr val="3C3C3C"/>
                </a:solidFill>
                <a:latin typeface="Arial"/>
              </a:rPr>
              <a:t/>
            </a:r>
          </a:p>
        </p:txBody>
      </p:sp>
      <p:sp>
        <p:nvSpPr>
          <p:cNvPr id="14" name="TextBox 13"/>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Operational Metrics &amp; Financials</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sp>
        <p:nvSpPr>
          <p:cNvPr id="5" name="Rounded Rectangle 4"/>
          <p:cNvSpPr/>
          <p:nvPr/>
        </p:nvSpPr>
        <p:spPr>
          <a:xfrm>
            <a:off x="45720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-2.5%</a:t>
            </a:r>
          </a:p>
          <a:p>
            <a:pPr algn="ctr"/>
            <a:r>
              <a:rPr sz="900">
                <a:solidFill>
                  <a:srgbClr val="C8C8C8"/>
                </a:solidFill>
                <a:latin typeface="Arial"/>
              </a:rPr>
              <a:t>Revenue CAGR</a:t>
            </a:r>
          </a:p>
        </p:txBody>
      </p:sp>
      <p:sp>
        <p:nvSpPr>
          <p:cNvPr id="6" name="Rounded Rectangle 5"/>
          <p:cNvSpPr/>
          <p:nvPr/>
        </p:nvSpPr>
        <p:spPr>
          <a:xfrm>
            <a:off x="329184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4.3%</a:t>
            </a:r>
          </a:p>
          <a:p>
            <a:pPr algn="ctr"/>
            <a:r>
              <a:rPr sz="900">
                <a:solidFill>
                  <a:srgbClr val="C8C8C8"/>
                </a:solidFill>
                <a:latin typeface="Arial"/>
              </a:rPr>
              <a:t>EBITDA Margin</a:t>
            </a:r>
          </a:p>
        </p:txBody>
      </p:sp>
      <p:sp>
        <p:nvSpPr>
          <p:cNvPr id="7" name="Rounded Rectangle 6"/>
          <p:cNvSpPr/>
          <p:nvPr/>
        </p:nvSpPr>
        <p:spPr>
          <a:xfrm>
            <a:off x="612648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0.6%</a:t>
            </a:r>
          </a:p>
          <a:p>
            <a:pPr algn="ctr"/>
            <a:r>
              <a:rPr sz="900">
                <a:solidFill>
                  <a:srgbClr val="C8C8C8"/>
                </a:solidFill>
                <a:latin typeface="Arial"/>
              </a:rPr>
              <a:t>RoCE</a:t>
            </a:r>
          </a:p>
        </p:txBody>
      </p:sp>
      <p:sp>
        <p:nvSpPr>
          <p:cNvPr id="8" name="Rounded Rectangle 7"/>
          <p:cNvSpPr/>
          <p:nvPr/>
        </p:nvSpPr>
        <p:spPr>
          <a:xfrm>
            <a:off x="8961120" y="1097280"/>
            <a:ext cx="2560320" cy="731520"/>
          </a:xfrm>
          <a:prstGeom prst="roundRect">
            <a:avLst/>
          </a:prstGeom>
          <a:solidFill>
            <a:srgbClr val="2D235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Arial"/>
              </a:rPr>
              <a:t>-3.4%</a:t>
            </a:r>
          </a:p>
          <a:p>
            <a:pPr algn="ctr"/>
            <a:r>
              <a:rPr sz="900">
                <a:solidFill>
                  <a:srgbClr val="C8C8C8"/>
                </a:solidFill>
                <a:latin typeface="Arial"/>
              </a:rPr>
              <a:t>ROE</a:t>
            </a:r>
          </a:p>
        </p:txBody>
      </p:sp>
      <p:graphicFrame>
        <p:nvGraphicFramePr>
          <p:cNvPr id="9" name="Chart 8"/>
          <p:cNvGraphicFramePr>
            <a:graphicFrameLocks noGrp="1"/>
          </p:cNvGraphicFramePr>
          <p:nvPr/>
        </p:nvGraphicFramePr>
        <p:xfrm>
          <a:off x="457200" y="2011680"/>
          <a:ext cx="5943600" cy="3200400"/>
        </p:xfrm>
        <a:graphic>
          <a:graphicData uri="http://schemas.openxmlformats.org/drawingml/2006/chart">
            <c:chart xmlns:c="http://schemas.openxmlformats.org/drawingml/2006/chart" r:id="rId2"/>
          </a:graphicData>
        </a:graphic>
      </p:graphicFrame>
      <p:sp>
        <p:nvSpPr>
          <p:cNvPr id="10" name="TextBox 9"/>
          <p:cNvSpPr txBox="1"/>
          <p:nvPr/>
        </p:nvSpPr>
        <p:spPr>
          <a:xfrm>
            <a:off x="6858000" y="2743200"/>
            <a:ext cx="4572000" cy="1828800"/>
          </a:xfrm>
          <a:prstGeom prst="rect">
            <a:avLst/>
          </a:prstGeom>
          <a:noFill/>
        </p:spPr>
        <p:txBody>
          <a:bodyPr wrap="square">
            <a:spAutoFit/>
          </a:bodyPr>
          <a:lstStyle/>
          <a:p>
            <a:pPr>
              <a:defRPr sz="1100">
                <a:solidFill>
                  <a:srgbClr val="3C3C3C"/>
                </a:solidFill>
                <a:latin typeface="Arial"/>
              </a:defRPr>
            </a:pPr>
            <a:r>
              <a:t>Despite facing a challenging revenue trend over the past five years, the company has shown resilience with steady EBITDA performance, reflecting operational efficiency improvements.</a:t>
            </a:r>
          </a:p>
        </p:txBody>
      </p:sp>
      <p:sp>
        <p:nvSpPr>
          <p:cNvPr id="11" name="TextBox 10"/>
          <p:cNvSpPr txBox="1"/>
          <p:nvPr/>
        </p:nvSpPr>
        <p:spPr>
          <a:xfrm>
            <a:off x="6858000" y="4572000"/>
            <a:ext cx="4572000" cy="1645920"/>
          </a:xfrm>
          <a:prstGeom prst="rect">
            <a:avLst/>
          </a:prstGeom>
          <a:noFill/>
        </p:spPr>
        <p:txBody>
          <a:bodyPr wrap="square">
            <a:spAutoFit/>
          </a:bodyPr>
          <a:lstStyle/>
          <a:p>
            <a:r>
              <a:rPr sz="1200" b="1">
                <a:solidFill>
                  <a:srgbClr val="2D235A"/>
                </a:solidFill>
                <a:latin typeface="Arial"/>
              </a:rPr>
              <a:t>Key Achievements</a:t>
            </a:r>
          </a:p>
          <a:p>
            <a:pPr>
              <a:spcBef>
                <a:spcPts val="200"/>
              </a:spcBef>
              <a:defRPr sz="900">
                <a:solidFill>
                  <a:srgbClr val="3C3C3C"/>
                </a:solidFill>
                <a:latin typeface="Arial"/>
              </a:defRPr>
            </a:pPr>
            <a:r>
              <a:t>• Achieved EBITDA growth of 88% from FY21 to FY23, indicating improved operational leverage.</a:t>
            </a:r>
          </a:p>
          <a:p>
            <a:pPr>
              <a:spcBef>
                <a:spcPts val="200"/>
              </a:spcBef>
              <a:defRPr sz="900">
                <a:solidFill>
                  <a:srgbClr val="3C3C3C"/>
                </a:solidFill>
                <a:latin typeface="Arial"/>
              </a:defRPr>
            </a:pPr>
            <a:r>
              <a:t>• Maintained a consistent EBITDA margin amidst fluctuating revenues, demonstrating effective cost management.</a:t>
            </a:r>
          </a:p>
          <a:p>
            <a:pPr>
              <a:spcBef>
                <a:spcPts val="200"/>
              </a:spcBef>
              <a:defRPr sz="900">
                <a:solidFill>
                  <a:srgbClr val="3C3C3C"/>
                </a:solidFill>
                <a:latin typeface="Arial"/>
              </a:defRPr>
            </a:pPr>
            <a:r>
              <a:t>• Expanded service offerings, enhancing value proposition in the logistics sector.</a:t>
            </a:r>
          </a:p>
        </p:txBody>
      </p:sp>
      <p:sp>
        <p:nvSpPr>
          <p:cNvPr id="12" name="TextBox 11"/>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4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457200"/>
          </a:xfrm>
          <a:prstGeom prst="rect">
            <a:avLst/>
          </a:prstGeom>
          <a:noFill/>
        </p:spPr>
        <p:txBody>
          <a:bodyPr wrap="none">
            <a:spAutoFit/>
          </a:bodyPr>
          <a:lstStyle/>
          <a:p>
            <a:r>
              <a:rPr sz="2400" b="1">
                <a:solidFill>
                  <a:srgbClr val="FFFFFF"/>
                </a:solidFill>
                <a:latin typeface="Arial"/>
              </a:rPr>
              <a:t>Investment Highlights</a:t>
            </a:r>
          </a:p>
        </p:txBody>
      </p:sp>
      <p:sp>
        <p:nvSpPr>
          <p:cNvPr id="4" name="TextBox 3"/>
          <p:cNvSpPr txBox="1"/>
          <p:nvPr/>
        </p:nvSpPr>
        <p:spPr>
          <a:xfrm>
            <a:off x="10515600" y="228600"/>
            <a:ext cx="1371600" cy="457200"/>
          </a:xfrm>
          <a:prstGeom prst="rect">
            <a:avLst/>
          </a:prstGeom>
          <a:noFill/>
        </p:spPr>
        <p:txBody>
          <a:bodyPr wrap="none">
            <a:spAutoFit/>
          </a:bodyPr>
          <a:lstStyle/>
          <a:p>
            <a:pPr algn="r"/>
            <a:r>
              <a:rPr sz="2000" b="1">
                <a:solidFill>
                  <a:srgbClr val="FF6482"/>
                </a:solidFill>
                <a:latin typeface="Arial"/>
              </a:rPr>
              <a:t>Kelp</a:t>
            </a:r>
          </a:p>
        </p:txBody>
      </p:sp>
      <p:pic>
        <p:nvPicPr>
          <p:cNvPr id="5" name="Picture 4" descr="logistics_warehouse_shipping_unsplash.jpg"/>
          <p:cNvPicPr>
            <a:picLocks noChangeAspect="1"/>
          </p:cNvPicPr>
          <p:nvPr/>
        </p:nvPicPr>
        <p:blipFill>
          <a:blip r:embed="rId2"/>
          <a:stretch>
            <a:fillRect/>
          </a:stretch>
        </p:blipFill>
        <p:spPr>
          <a:xfrm>
            <a:off x="274320" y="1371600"/>
            <a:ext cx="3657600" cy="3657600"/>
          </a:xfrm>
          <a:prstGeom prst="rect">
            <a:avLst/>
          </a:prstGeom>
        </p:spPr>
      </p:pic>
      <p:sp>
        <p:nvSpPr>
          <p:cNvPr id="6" name="Oval 5"/>
          <p:cNvSpPr/>
          <p:nvPr/>
        </p:nvSpPr>
        <p:spPr>
          <a:xfrm>
            <a:off x="4389120" y="12801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280160"/>
            <a:ext cx="6858000" cy="822960"/>
          </a:xfrm>
          <a:prstGeom prst="rect">
            <a:avLst/>
          </a:prstGeom>
          <a:noFill/>
        </p:spPr>
        <p:txBody>
          <a:bodyPr wrap="square">
            <a:spAutoFit/>
          </a:bodyPr>
          <a:lstStyle/>
          <a:p>
            <a:r>
              <a:rPr sz="1200" b="1">
                <a:solidFill>
                  <a:srgbClr val="2D235A"/>
                </a:solidFill>
                <a:latin typeface="Arial"/>
              </a:rPr>
              <a:t>Robust Financial Growth</a:t>
            </a:r>
          </a:p>
          <a:p>
            <a:pPr>
              <a:defRPr sz="1000">
                <a:solidFill>
                  <a:srgbClr val="3C3C3C"/>
                </a:solidFill>
                <a:latin typeface="Arial"/>
              </a:defRPr>
            </a:pPr>
            <a:r>
              <a:t>Achieved a remarkable FY25 net profit of Rs 10 crore, showcasing a 150% increase from the previous year.</a:t>
            </a:r>
          </a:p>
        </p:txBody>
      </p:sp>
      <p:sp>
        <p:nvSpPr>
          <p:cNvPr id="8" name="Oval 7"/>
          <p:cNvSpPr/>
          <p:nvPr/>
        </p:nvSpPr>
        <p:spPr>
          <a:xfrm>
            <a:off x="4389120" y="21945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94560"/>
            <a:ext cx="6858000" cy="822960"/>
          </a:xfrm>
          <a:prstGeom prst="rect">
            <a:avLst/>
          </a:prstGeom>
          <a:noFill/>
        </p:spPr>
        <p:txBody>
          <a:bodyPr wrap="square">
            <a:spAutoFit/>
          </a:bodyPr>
          <a:lstStyle/>
          <a:p>
            <a:r>
              <a:rPr sz="1200" b="1">
                <a:solidFill>
                  <a:srgbClr val="2D235A"/>
                </a:solidFill>
                <a:latin typeface="Arial"/>
              </a:rPr>
              <a:t>Strong Revenue Momentum</a:t>
            </a:r>
          </a:p>
          <a:p>
            <a:pPr>
              <a:defRPr sz="1000">
                <a:solidFill>
                  <a:srgbClr val="3C3C3C"/>
                </a:solidFill>
                <a:latin typeface="Arial"/>
              </a:defRPr>
            </a:pPr>
            <a:r>
              <a:t>Q4 2025 revenue surged by 9% to Rs 385 crore, reflecting an upward trajectory in market demand.</a:t>
            </a:r>
          </a:p>
        </p:txBody>
      </p:sp>
      <p:sp>
        <p:nvSpPr>
          <p:cNvPr id="10" name="Oval 9"/>
          <p:cNvSpPr/>
          <p:nvPr/>
        </p:nvSpPr>
        <p:spPr>
          <a:xfrm>
            <a:off x="4389120" y="31089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108960"/>
            <a:ext cx="6858000" cy="822960"/>
          </a:xfrm>
          <a:prstGeom prst="rect">
            <a:avLst/>
          </a:prstGeom>
          <a:noFill/>
        </p:spPr>
        <p:txBody>
          <a:bodyPr wrap="square">
            <a:spAutoFit/>
          </a:bodyPr>
          <a:lstStyle/>
          <a:p>
            <a:r>
              <a:rPr sz="1200" b="1">
                <a:solidFill>
                  <a:srgbClr val="2D235A"/>
                </a:solidFill>
                <a:latin typeface="Arial"/>
              </a:rPr>
              <a:t>Expanding Market Opportunities</a:t>
            </a:r>
          </a:p>
          <a:p>
            <a:pPr>
              <a:defRPr sz="1000">
                <a:solidFill>
                  <a:srgbClr val="3C3C3C"/>
                </a:solidFill>
                <a:latin typeface="Arial"/>
              </a:defRPr>
            </a:pPr>
            <a:r>
              <a:t>The express logistics sector is poised for a 14% CAGR from FY23 to FY28, presenting significant growth avenues.</a:t>
            </a:r>
          </a:p>
        </p:txBody>
      </p:sp>
      <p:sp>
        <p:nvSpPr>
          <p:cNvPr id="12" name="Oval 11"/>
          <p:cNvSpPr/>
          <p:nvPr/>
        </p:nvSpPr>
        <p:spPr>
          <a:xfrm>
            <a:off x="4389120" y="40233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023360"/>
            <a:ext cx="6858000" cy="822960"/>
          </a:xfrm>
          <a:prstGeom prst="rect">
            <a:avLst/>
          </a:prstGeom>
          <a:noFill/>
        </p:spPr>
        <p:txBody>
          <a:bodyPr wrap="square">
            <a:spAutoFit/>
          </a:bodyPr>
          <a:lstStyle/>
          <a:p>
            <a:r>
              <a:rPr sz="1200" b="1">
                <a:solidFill>
                  <a:srgbClr val="2D235A"/>
                </a:solidFill>
                <a:latin typeface="Arial"/>
              </a:rPr>
              <a:t>Strategic Expansion Plans</a:t>
            </a:r>
          </a:p>
          <a:p>
            <a:pPr>
              <a:defRPr sz="1000">
                <a:solidFill>
                  <a:srgbClr val="3C3C3C"/>
                </a:solidFill>
                <a:latin typeface="Arial"/>
              </a:defRPr>
            </a:pPr>
            <a:r>
              <a:t>Aiming to open eight new hubs this financial year, enhancing service capacity and market penetration.</a:t>
            </a:r>
          </a:p>
        </p:txBody>
      </p:sp>
      <p:sp>
        <p:nvSpPr>
          <p:cNvPr id="14" name="Oval 13"/>
          <p:cNvSpPr/>
          <p:nvPr/>
        </p:nvSpPr>
        <p:spPr>
          <a:xfrm>
            <a:off x="4389120" y="4937760"/>
            <a:ext cx="365760" cy="365760"/>
          </a:xfrm>
          <a:prstGeom prst="ellipse">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4937760"/>
            <a:ext cx="6858000" cy="822960"/>
          </a:xfrm>
          <a:prstGeom prst="rect">
            <a:avLst/>
          </a:prstGeom>
          <a:noFill/>
        </p:spPr>
        <p:txBody>
          <a:bodyPr wrap="square">
            <a:spAutoFit/>
          </a:bodyPr>
          <a:lstStyle/>
          <a:p>
            <a:r>
              <a:rPr sz="1200" b="1">
                <a:solidFill>
                  <a:srgbClr val="2D235A"/>
                </a:solidFill>
                <a:latin typeface="Arial"/>
              </a:rPr>
              <a:t>Focused on Tier 2 and Tier 3 Markets</a:t>
            </a:r>
          </a:p>
          <a:p>
            <a:pPr>
              <a:defRPr sz="1000">
                <a:solidFill>
                  <a:srgbClr val="3C3C3C"/>
                </a:solidFill>
                <a:latin typeface="Arial"/>
              </a:defRPr>
            </a:pPr>
            <a:r>
              <a:t>Strategically targeting expansion into Tier 2 and Tier 3 markets to broaden client reach and optimize logistics.</a:t>
            </a:r>
          </a:p>
        </p:txBody>
      </p:sp>
      <p:sp>
        <p:nvSpPr>
          <p:cNvPr id="16" name="TextBox 15"/>
          <p:cNvSpPr txBox="1"/>
          <p:nvPr/>
        </p:nvSpPr>
        <p:spPr>
          <a:xfrm>
            <a:off x="457200" y="5760720"/>
            <a:ext cx="10972800" cy="457200"/>
          </a:xfrm>
          <a:prstGeom prst="rect">
            <a:avLst/>
          </a:prstGeom>
          <a:noFill/>
        </p:spPr>
        <p:txBody>
          <a:bodyPr wrap="none">
            <a:spAutoFit/>
          </a:bodyPr>
          <a:lstStyle/>
          <a:p>
            <a:pPr algn="ctr">
              <a:defRPr sz="1200" i="1">
                <a:solidFill>
                  <a:srgbClr val="3C3C3C"/>
                </a:solidFill>
                <a:latin typeface="Arial"/>
              </a:defRPr>
            </a:pPr>
            <a:r>
              <a:t>Seize the opportunity to invest in a rapidly growing logistics leader with a clear path to market dominance.</a:t>
            </a:r>
          </a:p>
        </p:txBody>
      </p:sp>
      <p:sp>
        <p:nvSpPr>
          <p:cNvPr id="17" name="TextBox 16"/>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D235A"/>
        </a:solidFill>
        <a:effectLst/>
      </p:bgPr>
    </p:bg>
    <p:spTree>
      <p:nvGrpSpPr>
        <p:cNvPr id="1" name=""/>
        <p:cNvGrpSpPr/>
        <p:nvPr/>
      </p:nvGrpSpPr>
      <p:grpSpPr/>
      <p:sp>
        <p:nvSpPr>
          <p:cNvPr id="2" name="TextBox 1"/>
          <p:cNvSpPr txBox="1"/>
          <p:nvPr/>
        </p:nvSpPr>
        <p:spPr>
          <a:xfrm>
            <a:off x="457200" y="457200"/>
            <a:ext cx="1828800" cy="548640"/>
          </a:xfrm>
          <a:prstGeom prst="rect">
            <a:avLst/>
          </a:prstGeom>
          <a:noFill/>
        </p:spPr>
        <p:txBody>
          <a:bodyPr wrap="none">
            <a:spAutoFit/>
          </a:bodyPr>
          <a:lstStyle/>
          <a:p>
            <a:r>
              <a:rPr sz="3200" b="1">
                <a:solidFill>
                  <a:srgbClr val="FF6482"/>
                </a:solidFill>
                <a:latin typeface="Arial"/>
              </a:rPr>
              <a:t>Kelp</a:t>
            </a:r>
          </a:p>
        </p:txBody>
      </p:sp>
      <p:sp>
        <p:nvSpPr>
          <p:cNvPr id="3" name="TextBox 2"/>
          <p:cNvSpPr txBox="1"/>
          <p:nvPr/>
        </p:nvSpPr>
        <p:spPr>
          <a:xfrm>
            <a:off x="457200" y="1645920"/>
            <a:ext cx="10972800" cy="731520"/>
          </a:xfrm>
          <a:prstGeom prst="rect">
            <a:avLst/>
          </a:prstGeom>
          <a:noFill/>
        </p:spPr>
        <p:txBody>
          <a:bodyPr wrap="none">
            <a:spAutoFit/>
          </a:bodyPr>
          <a:lstStyle/>
          <a:p>
            <a:r>
              <a:rPr sz="3600" b="1">
                <a:solidFill>
                  <a:srgbClr val="FFFFFF"/>
                </a:solidFill>
                <a:latin typeface="Arial"/>
              </a:rPr>
              <a:t>Important Notice &amp; Disclaimer</a:t>
            </a:r>
          </a:p>
        </p:txBody>
      </p:sp>
      <p:sp>
        <p:nvSpPr>
          <p:cNvPr id="4" name="TextBox 3"/>
          <p:cNvSpPr txBox="1"/>
          <p:nvPr/>
        </p:nvSpPr>
        <p:spPr>
          <a:xfrm>
            <a:off x="457200" y="2743200"/>
            <a:ext cx="10972800" cy="2743200"/>
          </a:xfrm>
          <a:prstGeom prst="rect">
            <a:avLst/>
          </a:prstGeom>
          <a:noFill/>
        </p:spPr>
        <p:txBody>
          <a:bodyPr wrap="square">
            <a:spAutoFit/>
          </a:bodyPr>
          <a:lstStyle/>
          <a:p>
            <a:pPr>
              <a:lnSpc>
                <a:spcPct val="150000"/>
              </a:lnSpc>
            </a:pPr>
            <a:r>
              <a:rPr sz="1400">
                <a:solidFill>
                  <a:srgbClr val="C8C8C8"/>
                </a:solidFill>
                <a:latin typeface="Arial"/>
              </a:rPr>
              <a:t>Strictly Private &amp; Confidential. This presentation is prepared by Kelp Global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based on current assumptions; actual results may vary materially.</a:t>
            </a:r>
          </a:p>
        </p:txBody>
      </p:sp>
      <p:sp>
        <p:nvSpPr>
          <p:cNvPr id="5" name="TextBox 4"/>
          <p:cNvSpPr txBox="1"/>
          <p:nvPr/>
        </p:nvSpPr>
        <p:spPr>
          <a:xfrm>
            <a:off x="0" y="6492240"/>
            <a:ext cx="12191695" cy="274320"/>
          </a:xfrm>
          <a:prstGeom prst="rect">
            <a:avLst/>
          </a:prstGeom>
          <a:noFill/>
        </p:spPr>
        <p:txBody>
          <a:bodyPr wrap="none">
            <a:spAutoFit/>
          </a:bodyPr>
          <a:lstStyle/>
          <a:p>
            <a:pPr algn="ctr"/>
            <a:r>
              <a:rPr sz="900">
                <a:solidFill>
                  <a:srgbClr val="787878"/>
                </a:solidFill>
                <a:latin typeface="Arial"/>
              </a:rP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