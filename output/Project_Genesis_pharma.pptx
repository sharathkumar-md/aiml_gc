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D235A"/>
            </a:solidFill>
          </c:spPr>
          <c:cat>
            <c:strRef>
              <c:f>Sheet1!$A$2:$A$6</c:f>
              <c:strCache>
                <c:ptCount val="5"/>
                <c:pt idx="0">
                  <c:v>FY17</c:v>
                </c:pt>
                <c:pt idx="1">
                  <c:v>FY18</c:v>
                </c:pt>
                <c:pt idx="2">
                  <c:v>FY22</c:v>
                </c:pt>
                <c:pt idx="3">
                  <c:v>FY23</c:v>
                </c:pt>
                <c:pt idx="4">
                  <c:v>FY24</c:v>
                </c:pt>
              </c:strCache>
            </c:strRef>
          </c:cat>
          <c:val>
            <c:numRef>
              <c:f>Sheet1!$B$2:$B$6</c:f>
              <c:numCache>
                <c:formatCode>General</c:formatCode>
                <c:ptCount val="5"/>
                <c:pt idx="0">
                  <c:v>2672.0</c:v>
                </c:pt>
                <c:pt idx="1">
                  <c:v>2705.7</c:v>
                </c:pt>
                <c:pt idx="2">
                  <c:v>4017.6</c:v>
                </c:pt>
                <c:pt idx="3">
                  <c:v>4109.6</c:v>
                </c:pt>
                <c:pt idx="4">
                  <c:v>5022.5</c:v>
                </c:pt>
              </c:numCache>
            </c:numRef>
          </c:val>
        </c:ser>
        <c:ser>
          <c:idx val="1"/>
          <c:order val="1"/>
          <c:tx>
            <c:strRef>
              <c:f>Sheet1!$C$1</c:f>
              <c:strCache>
                <c:ptCount val="1"/>
                <c:pt idx="0">
                  <c:v>EBITDA</c:v>
                </c:pt>
              </c:strCache>
            </c:strRef>
          </c:tx>
          <c:spPr>
            <a:solidFill>
              <a:srgbClr val="00C8FF"/>
            </a:solidFill>
          </c:spPr>
          <c:cat>
            <c:strRef>
              <c:f>Sheet1!$A$2:$A$6</c:f>
              <c:strCache>
                <c:ptCount val="5"/>
                <c:pt idx="0">
                  <c:v>FY17</c:v>
                </c:pt>
                <c:pt idx="1">
                  <c:v>FY18</c:v>
                </c:pt>
                <c:pt idx="2">
                  <c:v>FY22</c:v>
                </c:pt>
                <c:pt idx="3">
                  <c:v>FY23</c:v>
                </c:pt>
                <c:pt idx="4">
                  <c:v>FY24</c:v>
                </c:pt>
              </c:strCache>
            </c:strRef>
          </c:cat>
          <c:val>
            <c:numRef>
              <c:f>Sheet1!$C$2:$C$6</c:f>
              <c:numCache>
                <c:formatCode>General</c:formatCode>
                <c:ptCount val="5"/>
                <c:pt idx="0">
                  <c:v>-654.0</c:v>
                </c:pt>
                <c:pt idx="1">
                  <c:v>63.0</c:v>
                </c:pt>
                <c:pt idx="2">
                  <c:v>494.2</c:v>
                </c:pt>
                <c:pt idx="3">
                  <c:v>420.3</c:v>
                </c:pt>
                <c:pt idx="4">
                  <c:v>485.1</c:v>
                </c:pt>
              </c:numCache>
            </c:numRef>
          </c:val>
        </c:ser>
        <c:ser>
          <c:idx val="2"/>
          <c:order val="2"/>
          <c:tx>
            <c:strRef>
              <c:f>Sheet1!$D$1</c:f>
              <c:strCache>
                <c:ptCount val="1"/>
                <c:pt idx="0">
                  <c:v>PAT</c:v>
                </c:pt>
              </c:strCache>
            </c:strRef>
          </c:tx>
          <c:spPr>
            <a:solidFill>
              <a:srgbClr val="FF6482"/>
            </a:solidFill>
          </c:spPr>
          <c:cat>
            <c:strRef>
              <c:f>Sheet1!$A$2:$A$6</c:f>
              <c:strCache>
                <c:ptCount val="5"/>
                <c:pt idx="0">
                  <c:v>FY17</c:v>
                </c:pt>
                <c:pt idx="1">
                  <c:v>FY18</c:v>
                </c:pt>
                <c:pt idx="2">
                  <c:v>FY22</c:v>
                </c:pt>
                <c:pt idx="3">
                  <c:v>FY23</c:v>
                </c:pt>
                <c:pt idx="4">
                  <c:v>FY24</c:v>
                </c:pt>
              </c:strCache>
            </c:strRef>
          </c:cat>
          <c:val>
            <c:numRef>
              <c:f>Sheet1!$D$2:$D$6</c:f>
              <c:numCache>
                <c:formatCode>General</c:formatCode>
                <c:ptCount val="5"/>
                <c:pt idx="0">
                  <c:v>-1046.6</c:v>
                </c:pt>
                <c:pt idx="1">
                  <c:v>-259.8</c:v>
                </c:pt>
                <c:pt idx="2">
                  <c:v>-327.7</c:v>
                </c:pt>
                <c:pt idx="3">
                  <c:v>-345.4</c:v>
                </c:pt>
                <c:pt idx="4">
                  <c:v>142.3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2286000"/>
            <a:ext cx="9144000" cy="1371600"/>
          </a:xfrm>
          <a:prstGeom prst="rect">
            <a:avLst/>
          </a:prstGeom>
          <a:noFill/>
        </p:spPr>
        <p:txBody>
          <a:bodyPr wrap="none">
            <a:spAutoFit/>
          </a:bodyPr>
          <a:lstStyle/>
          <a:p>
            <a:r>
              <a:rPr sz="5400" b="1">
                <a:solidFill>
                  <a:srgbClr val="FFFFFF"/>
                </a:solidFill>
                <a:latin typeface="Arial"/>
              </a:rPr>
              <a:t>Project Genesis</a:t>
            </a:r>
          </a:p>
        </p:txBody>
      </p:sp>
      <p:sp>
        <p:nvSpPr>
          <p:cNvPr id="4" name="TextBox 3"/>
          <p:cNvSpPr txBox="1"/>
          <p:nvPr/>
        </p:nvSpPr>
        <p:spPr>
          <a:xfrm>
            <a:off x="457200" y="3840480"/>
            <a:ext cx="5486400" cy="731520"/>
          </a:xfrm>
          <a:prstGeom prst="rect">
            <a:avLst/>
          </a:prstGeom>
          <a:noFill/>
        </p:spPr>
        <p:txBody>
          <a:bodyPr wrap="none">
            <a:spAutoFit/>
          </a:bodyPr>
          <a:lstStyle/>
          <a:p>
            <a:r>
              <a:rPr sz="2400">
                <a:solidFill>
                  <a:srgbClr val="FFFFFF"/>
                </a:solidFill>
                <a:latin typeface="Arial"/>
              </a:rPr>
              <a:t>Investment Brief</a:t>
            </a:r>
          </a:p>
        </p:txBody>
      </p:sp>
      <p:sp>
        <p:nvSpPr>
          <p:cNvPr id="5" name="TextBox 4"/>
          <p:cNvSpPr txBox="1"/>
          <p:nvPr/>
        </p:nvSpPr>
        <p:spPr>
          <a:xfrm>
            <a:off x="457200" y="4572000"/>
            <a:ext cx="3657600" cy="457200"/>
          </a:xfrm>
          <a:prstGeom prst="rect">
            <a:avLst/>
          </a:prstGeom>
          <a:noFill/>
        </p:spPr>
        <p:txBody>
          <a:bodyPr wrap="none">
            <a:spAutoFit/>
          </a:bodyPr>
          <a:lstStyle/>
          <a:p>
            <a:r>
              <a:rPr sz="1400" i="1">
                <a:solidFill>
                  <a:srgbClr val="B4B4B4"/>
                </a:solidFill>
                <a:latin typeface="Arial"/>
              </a:rPr>
              <a:t>kelpglobal.com</a:t>
            </a:r>
          </a:p>
        </p:txBody>
      </p:sp>
      <p:sp>
        <p:nvSpPr>
          <p:cNvPr id="6" name="TextBox 5"/>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Product Portfolio &amp; Therapeutic Areas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ectangle 4"/>
          <p:cNvSpPr/>
          <p:nvPr/>
        </p:nvSpPr>
        <p:spPr>
          <a:xfrm>
            <a:off x="274320" y="1005840"/>
            <a:ext cx="6858000" cy="32004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6400800" cy="274320"/>
          </a:xfrm>
          <a:prstGeom prst="rect">
            <a:avLst/>
          </a:prstGeom>
          <a:noFill/>
        </p:spPr>
        <p:txBody>
          <a:bodyPr wrap="none">
            <a:spAutoFit/>
          </a:bodyPr>
          <a:lstStyle/>
          <a:p>
            <a:r>
              <a:rPr sz="1200" b="1">
                <a:solidFill>
                  <a:srgbClr val="FFFFFF"/>
                </a:solidFill>
                <a:latin typeface="Arial"/>
              </a:rPr>
              <a:t>Business Overview:</a:t>
            </a:r>
          </a:p>
        </p:txBody>
      </p:sp>
      <p:sp>
        <p:nvSpPr>
          <p:cNvPr id="7" name="TextBox 6"/>
          <p:cNvSpPr txBox="1"/>
          <p:nvPr/>
        </p:nvSpPr>
        <p:spPr>
          <a:xfrm>
            <a:off x="274320" y="1371600"/>
            <a:ext cx="6858000" cy="1280160"/>
          </a:xfrm>
          <a:prstGeom prst="rect">
            <a:avLst/>
          </a:prstGeom>
          <a:noFill/>
        </p:spPr>
        <p:txBody>
          <a:bodyPr wrap="square">
            <a:spAutoFit/>
          </a:bodyPr>
          <a:lstStyle/>
          <a:p>
            <a:pPr>
              <a:defRPr sz="1000">
                <a:solidFill>
                  <a:srgbClr val="3C3C3C"/>
                </a:solidFill>
                <a:latin typeface="Arial"/>
              </a:defRPr>
            </a:pPr>
            <a:r>
              <a:t>The Company is a prominent player in the pharmaceutical sector, specializing in the development and manufacture of a diverse portfolio of pharmaceutical products, including APIs and herbal formulations. With a strong commitment to quality and safety, evidenced by numerous certifications, The Company has successfully established a significant presence in both domestic and international markets, exporting to 45 countries worldwide.</a:t>
            </a:r>
          </a:p>
        </p:txBody>
      </p:sp>
      <p:sp>
        <p:nvSpPr>
          <p:cNvPr id="8" name="Rectangle 7"/>
          <p:cNvSpPr/>
          <p:nvPr/>
        </p:nvSpPr>
        <p:spPr>
          <a:xfrm>
            <a:off x="7315200" y="1005840"/>
            <a:ext cx="438912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051560"/>
            <a:ext cx="4114800" cy="274320"/>
          </a:xfrm>
          <a:prstGeom prst="rect">
            <a:avLst/>
          </a:prstGeom>
          <a:noFill/>
        </p:spPr>
        <p:txBody>
          <a:bodyPr wrap="none">
            <a:spAutoFit/>
          </a:bodyPr>
          <a:lstStyle/>
          <a:p>
            <a:r>
              <a:rPr sz="1200" b="1">
                <a:solidFill>
                  <a:srgbClr val="FFFFFF"/>
                </a:solidFill>
                <a:latin typeface="Arial"/>
              </a:rPr>
              <a:t>At a Glance</a:t>
            </a:r>
          </a:p>
        </p:txBody>
      </p:sp>
      <p:sp>
        <p:nvSpPr>
          <p:cNvPr id="10" name="TextBox 9"/>
          <p:cNvSpPr txBox="1"/>
          <p:nvPr/>
        </p:nvSpPr>
        <p:spPr>
          <a:xfrm>
            <a:off x="7315200" y="1371600"/>
            <a:ext cx="4389120" cy="2011680"/>
          </a:xfrm>
          <a:prstGeom prst="rect">
            <a:avLst/>
          </a:prstGeom>
          <a:noFill/>
        </p:spPr>
        <p:txBody>
          <a:bodyPr wrap="square">
            <a:spAutoFit/>
          </a:bodyPr>
          <a:lstStyle/>
          <a:p>
            <a:r>
              <a:rPr sz="1400" b="1">
                <a:solidFill>
                  <a:srgbClr val="00C8FF"/>
                </a:solidFill>
                <a:latin typeface="Arial"/>
              </a:rPr>
              <a:t>At a Glance</a:t>
            </a:r>
          </a:p>
          <a:p>
            <a:pPr>
              <a:spcBef>
                <a:spcPts val="400"/>
              </a:spcBef>
            </a:pPr>
            <a:r>
              <a:rPr sz="1000" b="1">
                <a:solidFill>
                  <a:srgbClr val="3C3C3C"/>
                </a:solidFill>
                <a:latin typeface="Arial"/>
              </a:rPr>
              <a:t>Founded: </a:t>
            </a:r>
            <a:r>
              <a:rPr sz="1000">
                <a:solidFill>
                  <a:srgbClr val="3C3C3C"/>
                </a:solidFill>
                <a:latin typeface="Arial"/>
              </a:rPr>
              <a:t>1986</a:t>
            </a:r>
          </a:p>
          <a:p>
            <a:pPr>
              <a:spcBef>
                <a:spcPts val="400"/>
              </a:spcBef>
            </a:pPr>
            <a:r>
              <a:rPr sz="1000" b="1">
                <a:solidFill>
                  <a:srgbClr val="3C3C3C"/>
                </a:solidFill>
                <a:latin typeface="Arial"/>
              </a:rPr>
              <a:t>Employees: </a:t>
            </a:r>
            <a:r>
              <a:rPr sz="1000">
                <a:solidFill>
                  <a:srgbClr val="3C3C3C"/>
                </a:solidFill>
                <a:latin typeface="Arial"/>
              </a:rPr>
              <a:t>955</a:t>
            </a:r>
          </a:p>
          <a:p>
            <a:pPr>
              <a:spcBef>
                <a:spcPts val="400"/>
              </a:spcBef>
            </a:pPr>
            <a:r>
              <a:rPr sz="1000" b="1">
                <a:solidFill>
                  <a:srgbClr val="3C3C3C"/>
                </a:solidFill>
                <a:latin typeface="Arial"/>
              </a:rPr>
              <a:t>Facilities: </a:t>
            </a:r>
            <a:r>
              <a:rPr sz="1000">
                <a:solidFill>
                  <a:srgbClr val="3C3C3C"/>
                </a:solidFill>
                <a:latin typeface="Arial"/>
              </a:rPr>
              <a:t>3 state-of-the-art facilities</a:t>
            </a:r>
          </a:p>
          <a:p>
            <a:pPr>
              <a:spcBef>
                <a:spcPts val="400"/>
              </a:spcBef>
            </a:pPr>
            <a:r>
              <a:rPr sz="1000" b="1">
                <a:solidFill>
                  <a:srgbClr val="3C3C3C"/>
                </a:solidFill>
                <a:latin typeface="Arial"/>
              </a:rPr>
              <a:t>Global Presence: </a:t>
            </a:r>
            <a:r>
              <a:rPr sz="1000">
                <a:solidFill>
                  <a:srgbClr val="3C3C3C"/>
                </a:solidFill>
                <a:latin typeface="Arial"/>
              </a:rPr>
              <a:t>45 countries</a:t>
            </a:r>
          </a:p>
        </p:txBody>
      </p:sp>
      <p:sp>
        <p:nvSpPr>
          <p:cNvPr id="11" name="TextBox 10"/>
          <p:cNvSpPr txBox="1"/>
          <p:nvPr/>
        </p:nvSpPr>
        <p:spPr>
          <a:xfrm>
            <a:off x="274320" y="2743200"/>
            <a:ext cx="5029200" cy="1828800"/>
          </a:xfrm>
          <a:prstGeom prst="rect">
            <a:avLst/>
          </a:prstGeom>
          <a:noFill/>
        </p:spPr>
        <p:txBody>
          <a:bodyPr wrap="square">
            <a:spAutoFit/>
          </a:bodyPr>
          <a:lstStyle/>
          <a:p>
            <a:r>
              <a:rPr sz="1200" b="1">
                <a:solidFill>
                  <a:srgbClr val="2D235A"/>
                </a:solidFill>
                <a:latin typeface="Arial"/>
              </a:rPr>
              <a:t>Product Portfolio</a:t>
            </a:r>
          </a:p>
          <a:p>
            <a:pPr>
              <a:spcBef>
                <a:spcPts val="200"/>
              </a:spcBef>
              <a:defRPr sz="900">
                <a:solidFill>
                  <a:srgbClr val="3C3C3C"/>
                </a:solidFill>
                <a:latin typeface="Arial"/>
              </a:defRPr>
            </a:pPr>
            <a:r>
              <a:t>• Noble Division</a:t>
            </a:r>
          </a:p>
          <a:p>
            <a:pPr>
              <a:spcBef>
                <a:spcPts val="200"/>
              </a:spcBef>
              <a:defRPr sz="900">
                <a:solidFill>
                  <a:srgbClr val="3C3C3C"/>
                </a:solidFill>
                <a:latin typeface="Arial"/>
              </a:defRPr>
            </a:pPr>
            <a:r>
              <a:t>• Nova Division</a:t>
            </a:r>
          </a:p>
          <a:p>
            <a:pPr>
              <a:spcBef>
                <a:spcPts val="200"/>
              </a:spcBef>
              <a:defRPr sz="900">
                <a:solidFill>
                  <a:srgbClr val="3C3C3C"/>
                </a:solidFill>
                <a:latin typeface="Arial"/>
              </a:defRPr>
            </a:pPr>
            <a:r>
              <a:t>• Ethical Division</a:t>
            </a:r>
          </a:p>
          <a:p>
            <a:pPr>
              <a:spcBef>
                <a:spcPts val="200"/>
              </a:spcBef>
              <a:defRPr sz="900">
                <a:solidFill>
                  <a:srgbClr val="3C3C3C"/>
                </a:solidFill>
                <a:latin typeface="Arial"/>
              </a:defRPr>
            </a:pPr>
            <a:r>
              <a:t>• Generic Division</a:t>
            </a:r>
          </a:p>
        </p:txBody>
      </p:sp>
      <p:sp>
        <p:nvSpPr>
          <p:cNvPr id="12" name="TextBox 11"/>
          <p:cNvSpPr txBox="1"/>
          <p:nvPr/>
        </p:nvSpPr>
        <p:spPr>
          <a:xfrm>
            <a:off x="5943600" y="2743200"/>
            <a:ext cx="5029200" cy="1828800"/>
          </a:xfrm>
          <a:prstGeom prst="rect">
            <a:avLst/>
          </a:prstGeom>
          <a:noFill/>
        </p:spPr>
        <p:txBody>
          <a:bodyPr wrap="square">
            <a:spAutoFit/>
          </a:bodyPr>
          <a:lstStyle/>
          <a:p>
            <a:r>
              <a:rPr sz="1200" b="1">
                <a:solidFill>
                  <a:srgbClr val="2D235A"/>
                </a:solidFill>
                <a:latin typeface="Arial"/>
              </a:rPr>
              <a:t>Industries Served</a:t>
            </a:r>
          </a:p>
          <a:p>
            <a:pPr>
              <a:spcBef>
                <a:spcPts val="200"/>
              </a:spcBef>
              <a:defRPr sz="900">
                <a:solidFill>
                  <a:srgbClr val="3C3C3C"/>
                </a:solidFill>
                <a:latin typeface="Arial"/>
              </a:defRPr>
            </a:pPr>
            <a:r>
              <a:t>• Pharmaceuticals</a:t>
            </a:r>
          </a:p>
          <a:p>
            <a:pPr>
              <a:spcBef>
                <a:spcPts val="200"/>
              </a:spcBef>
              <a:defRPr sz="900">
                <a:solidFill>
                  <a:srgbClr val="3C3C3C"/>
                </a:solidFill>
                <a:latin typeface="Arial"/>
              </a:defRPr>
            </a:pPr>
            <a:r>
              <a:t>• Healthcare</a:t>
            </a:r>
          </a:p>
          <a:p>
            <a:pPr>
              <a:spcBef>
                <a:spcPts val="200"/>
              </a:spcBef>
              <a:defRPr sz="900">
                <a:solidFill>
                  <a:srgbClr val="3C3C3C"/>
                </a:solidFill>
                <a:latin typeface="Arial"/>
              </a:defRPr>
            </a:pPr>
            <a:r>
              <a:t>• Biotechnology</a:t>
            </a:r>
          </a:p>
        </p:txBody>
      </p:sp>
      <p:sp>
        <p:nvSpPr>
          <p:cNvPr id="13" name="TextBox 12"/>
          <p:cNvSpPr txBox="1"/>
          <p:nvPr/>
        </p:nvSpPr>
        <p:spPr>
          <a:xfrm>
            <a:off x="274320" y="5029200"/>
            <a:ext cx="10972800" cy="1097280"/>
          </a:xfrm>
          <a:prstGeom prst="rect">
            <a:avLst/>
          </a:prstGeom>
          <a:noFill/>
        </p:spPr>
        <p:txBody>
          <a:bodyPr wrap="square">
            <a:spAutoFit/>
          </a:bodyPr>
          <a:lstStyle/>
          <a:p>
            <a:r>
              <a:rPr sz="1000" b="1">
                <a:solidFill>
                  <a:srgbClr val="2D235A"/>
                </a:solidFill>
                <a:latin typeface="Arial"/>
              </a:rPr>
              <a:t>Certifications: </a:t>
            </a:r>
            <a:r>
              <a:rPr sz="900">
                <a:solidFill>
                  <a:srgbClr val="3C3C3C"/>
                </a:solidFill>
                <a:latin typeface="Arial"/>
              </a:rPr>
              <a:t>ISO 9001-2008 | WHO-GMP | IDMA Quality Excellence Certified</a:t>
            </a:r>
          </a:p>
        </p:txBody>
      </p:sp>
      <p:sp>
        <p:nvSpPr>
          <p:cNvPr id="14" name="TextBox 13"/>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Manufacturing &amp; Regulatory Compliance</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ounded Rectangle 4"/>
          <p:cNvSpPr/>
          <p:nvPr/>
        </p:nvSpPr>
        <p:spPr>
          <a:xfrm>
            <a:off x="45720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6.3%</a:t>
            </a:r>
          </a:p>
          <a:p>
            <a:pPr algn="ctr"/>
            <a:r>
              <a:rPr sz="900">
                <a:solidFill>
                  <a:srgbClr val="C8C8C8"/>
                </a:solidFill>
                <a:latin typeface="Arial"/>
              </a:rPr>
              <a:t>Revenue CAGR</a:t>
            </a:r>
          </a:p>
        </p:txBody>
      </p:sp>
      <p:sp>
        <p:nvSpPr>
          <p:cNvPr id="6" name="Rounded Rectangle 5"/>
          <p:cNvSpPr/>
          <p:nvPr/>
        </p:nvSpPr>
        <p:spPr>
          <a:xfrm>
            <a:off x="329184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9.7%</a:t>
            </a:r>
          </a:p>
          <a:p>
            <a:pPr algn="ctr"/>
            <a:r>
              <a:rPr sz="900">
                <a:solidFill>
                  <a:srgbClr val="C8C8C8"/>
                </a:solidFill>
                <a:latin typeface="Arial"/>
              </a:rPr>
              <a:t>EBITDA Margin</a:t>
            </a:r>
          </a:p>
        </p:txBody>
      </p:sp>
      <p:sp>
        <p:nvSpPr>
          <p:cNvPr id="7" name="Rounded Rectangle 6"/>
          <p:cNvSpPr/>
          <p:nvPr/>
        </p:nvSpPr>
        <p:spPr>
          <a:xfrm>
            <a:off x="612648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0.7%</a:t>
            </a:r>
          </a:p>
          <a:p>
            <a:pPr algn="ctr"/>
            <a:r>
              <a:rPr sz="900">
                <a:solidFill>
                  <a:srgbClr val="C8C8C8"/>
                </a:solidFill>
                <a:latin typeface="Arial"/>
              </a:rPr>
              <a:t>RoCE</a:t>
            </a:r>
          </a:p>
        </p:txBody>
      </p:sp>
      <p:sp>
        <p:nvSpPr>
          <p:cNvPr id="8" name="Rounded Rectangle 7"/>
          <p:cNvSpPr/>
          <p:nvPr/>
        </p:nvSpPr>
        <p:spPr>
          <a:xfrm>
            <a:off x="896112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5.4%</a:t>
            </a:r>
          </a:p>
          <a:p>
            <a:pPr algn="ctr"/>
            <a:r>
              <a:rPr sz="900">
                <a:solidFill>
                  <a:srgbClr val="C8C8C8"/>
                </a:solidFill>
                <a:latin typeface="Arial"/>
              </a:rPr>
              <a:t>ROE</a:t>
            </a:r>
          </a:p>
        </p:txBody>
      </p:sp>
      <p:graphicFrame>
        <p:nvGraphicFramePr>
          <p:cNvPr id="9" name="Chart 8"/>
          <p:cNvGraphicFramePr>
            <a:graphicFrameLocks noGrp="1"/>
          </p:cNvGraphicFramePr>
          <p:nvPr/>
        </p:nvGraphicFramePr>
        <p:xfrm>
          <a:off x="457200" y="2011680"/>
          <a:ext cx="594360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6858000" y="2743200"/>
            <a:ext cx="4572000" cy="1828800"/>
          </a:xfrm>
          <a:prstGeom prst="rect">
            <a:avLst/>
          </a:prstGeom>
          <a:noFill/>
        </p:spPr>
        <p:txBody>
          <a:bodyPr wrap="square">
            <a:spAutoFit/>
          </a:bodyPr>
          <a:lstStyle/>
          <a:p>
            <a:pPr>
              <a:defRPr sz="1100">
                <a:solidFill>
                  <a:srgbClr val="3C3C3C"/>
                </a:solidFill>
                <a:latin typeface="Arial"/>
              </a:defRPr>
            </a:pPr>
            <a:r>
              <a:t>The company has demonstrated a robust revenue growth trajectory with a CAGR of 6.3% over the past five years, reflecting strong market demand in the pharmaceutical sector.</a:t>
            </a:r>
          </a:p>
        </p:txBody>
      </p:sp>
      <p:sp>
        <p:nvSpPr>
          <p:cNvPr id="11" name="TextBox 10"/>
          <p:cNvSpPr txBox="1"/>
          <p:nvPr/>
        </p:nvSpPr>
        <p:spPr>
          <a:xfrm>
            <a:off x="6858000" y="4572000"/>
            <a:ext cx="4572000" cy="1645920"/>
          </a:xfrm>
          <a:prstGeom prst="rect">
            <a:avLst/>
          </a:prstGeom>
          <a:noFill/>
        </p:spPr>
        <p:txBody>
          <a:bodyPr wrap="square">
            <a:spAutoFit/>
          </a:bodyPr>
          <a:lstStyle/>
          <a:p>
            <a:r>
              <a:rPr sz="1200" b="1">
                <a:solidFill>
                  <a:srgbClr val="2D235A"/>
                </a:solidFill>
                <a:latin typeface="Arial"/>
              </a:rPr>
              <a:t>Key Achievements</a:t>
            </a:r>
          </a:p>
          <a:p>
            <a:pPr>
              <a:spcBef>
                <a:spcPts val="200"/>
              </a:spcBef>
              <a:defRPr sz="900">
                <a:solidFill>
                  <a:srgbClr val="3C3C3C"/>
                </a:solidFill>
                <a:latin typeface="Arial"/>
              </a:defRPr>
            </a:pPr>
            <a:r>
              <a:t>• Achieved revenue of 5022.5 million in FY24, marking a significant increase from previous years.</a:t>
            </a:r>
          </a:p>
          <a:p>
            <a:pPr>
              <a:spcBef>
                <a:spcPts val="200"/>
              </a:spcBef>
              <a:defRPr sz="900">
                <a:solidFill>
                  <a:srgbClr val="3C3C3C"/>
                </a:solidFill>
                <a:latin typeface="Arial"/>
              </a:defRPr>
            </a:pPr>
            <a:r>
              <a:t>• Successfully improved EBITDA from negative figures to a solid 485.1 million in FY24.</a:t>
            </a:r>
          </a:p>
          <a:p>
            <a:pPr>
              <a:spcBef>
                <a:spcPts val="200"/>
              </a:spcBef>
              <a:defRPr sz="900">
                <a:solidFill>
                  <a:srgbClr val="3C3C3C"/>
                </a:solidFill>
                <a:latin typeface="Arial"/>
              </a:defRPr>
            </a:pPr>
            <a:r>
              <a:t>• Maintained a positive PAT margin of 2.5%, indicating effective cost management and profitability.</a:t>
            </a:r>
          </a:p>
        </p:txBody>
      </p:sp>
      <p:sp>
        <p:nvSpPr>
          <p:cNvPr id="12" name="TextBox 11"/>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Investment Highlights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pic>
        <p:nvPicPr>
          <p:cNvPr id="5" name="Picture 4" descr="pharmaceutical_laboratory_medi_unsplash.jpg"/>
          <p:cNvPicPr>
            <a:picLocks noChangeAspect="1"/>
          </p:cNvPicPr>
          <p:nvPr/>
        </p:nvPicPr>
        <p:blipFill>
          <a:blip r:embed="rId2"/>
          <a:stretch>
            <a:fillRect/>
          </a:stretch>
        </p:blipFill>
        <p:spPr>
          <a:xfrm>
            <a:off x="274320" y="1371600"/>
            <a:ext cx="3657600" cy="3657600"/>
          </a:xfrm>
          <a:prstGeom prst="rect">
            <a:avLst/>
          </a:prstGeom>
        </p:spPr>
      </p:pic>
      <p:sp>
        <p:nvSpPr>
          <p:cNvPr id="6" name="Oval 5"/>
          <p:cNvSpPr/>
          <p:nvPr/>
        </p:nvSpPr>
        <p:spPr>
          <a:xfrm>
            <a:off x="4389120" y="12801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80160"/>
            <a:ext cx="6858000" cy="822960"/>
          </a:xfrm>
          <a:prstGeom prst="rect">
            <a:avLst/>
          </a:prstGeom>
          <a:noFill/>
        </p:spPr>
        <p:txBody>
          <a:bodyPr wrap="square">
            <a:spAutoFit/>
          </a:bodyPr>
          <a:lstStyle/>
          <a:p>
            <a:r>
              <a:rPr sz="1200" b="1">
                <a:solidFill>
                  <a:srgbClr val="2D235A"/>
                </a:solidFill>
                <a:latin typeface="Arial"/>
              </a:rPr>
              <a:t>Impressive Profit Growth</a:t>
            </a:r>
          </a:p>
          <a:p>
            <a:pPr>
              <a:defRPr sz="1000">
                <a:solidFill>
                  <a:srgbClr val="3C3C3C"/>
                </a:solidFill>
                <a:latin typeface="Arial"/>
              </a:defRPr>
            </a:pPr>
            <a:r>
              <a:t>Net profit surged by 832.98% to ₹8.77 crore in the June 2025 quarter, showcasing remarkable financial strength.</a:t>
            </a:r>
          </a:p>
        </p:txBody>
      </p:sp>
      <p:sp>
        <p:nvSpPr>
          <p:cNvPr id="8" name="Oval 7"/>
          <p:cNvSpPr/>
          <p:nvPr/>
        </p:nvSpPr>
        <p:spPr>
          <a:xfrm>
            <a:off x="4389120" y="21945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6858000" cy="822960"/>
          </a:xfrm>
          <a:prstGeom prst="rect">
            <a:avLst/>
          </a:prstGeom>
          <a:noFill/>
        </p:spPr>
        <p:txBody>
          <a:bodyPr wrap="square">
            <a:spAutoFit/>
          </a:bodyPr>
          <a:lstStyle/>
          <a:p>
            <a:r>
              <a:rPr sz="1200" b="1">
                <a:solidFill>
                  <a:srgbClr val="2D235A"/>
                </a:solidFill>
                <a:latin typeface="Arial"/>
              </a:rPr>
              <a:t>Explosive Sales Increase</a:t>
            </a:r>
          </a:p>
          <a:p>
            <a:pPr>
              <a:defRPr sz="1000">
                <a:solidFill>
                  <a:srgbClr val="3C3C3C"/>
                </a:solidFill>
                <a:latin typeface="Arial"/>
              </a:defRPr>
            </a:pPr>
            <a:r>
              <a:t>Sales skyrocketed by 360.45% to ₹152.73 crore in the same quarter, reflecting robust market demand.</a:t>
            </a:r>
          </a:p>
        </p:txBody>
      </p:sp>
      <p:sp>
        <p:nvSpPr>
          <p:cNvPr id="10" name="Oval 9"/>
          <p:cNvSpPr/>
          <p:nvPr/>
        </p:nvSpPr>
        <p:spPr>
          <a:xfrm>
            <a:off x="4389120" y="31089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108960"/>
            <a:ext cx="6858000" cy="822960"/>
          </a:xfrm>
          <a:prstGeom prst="rect">
            <a:avLst/>
          </a:prstGeom>
          <a:noFill/>
        </p:spPr>
        <p:txBody>
          <a:bodyPr wrap="square">
            <a:spAutoFit/>
          </a:bodyPr>
          <a:lstStyle/>
          <a:p>
            <a:r>
              <a:rPr sz="1200" b="1">
                <a:solidFill>
                  <a:srgbClr val="2D235A"/>
                </a:solidFill>
                <a:latin typeface="Arial"/>
              </a:rPr>
              <a:t>Significant FII Interest</a:t>
            </a:r>
          </a:p>
          <a:p>
            <a:pPr>
              <a:defRPr sz="1000">
                <a:solidFill>
                  <a:srgbClr val="3C3C3C"/>
                </a:solidFill>
                <a:latin typeface="Arial"/>
              </a:defRPr>
            </a:pPr>
            <a:r>
              <a:t>Foreign institutional investor shareholding soared by 2179.75% over the past year, highlighting increased confidence in the company.</a:t>
            </a:r>
          </a:p>
        </p:txBody>
      </p:sp>
      <p:sp>
        <p:nvSpPr>
          <p:cNvPr id="12" name="Oval 11"/>
          <p:cNvSpPr/>
          <p:nvPr/>
        </p:nvSpPr>
        <p:spPr>
          <a:xfrm>
            <a:off x="4389120" y="40233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6858000" cy="822960"/>
          </a:xfrm>
          <a:prstGeom prst="rect">
            <a:avLst/>
          </a:prstGeom>
          <a:noFill/>
        </p:spPr>
        <p:txBody>
          <a:bodyPr wrap="square">
            <a:spAutoFit/>
          </a:bodyPr>
          <a:lstStyle/>
          <a:p>
            <a:r>
              <a:rPr sz="1200" b="1">
                <a:solidFill>
                  <a:srgbClr val="2D235A"/>
                </a:solidFill>
                <a:latin typeface="Arial"/>
              </a:rPr>
              <a:t>Strategic Expansion Plans</a:t>
            </a:r>
          </a:p>
          <a:p>
            <a:pPr>
              <a:defRPr sz="1000">
                <a:solidFill>
                  <a:srgbClr val="3C3C3C"/>
                </a:solidFill>
                <a:latin typeface="Arial"/>
              </a:defRPr>
            </a:pPr>
            <a:r>
              <a:t>Plans to invest ₹100 crore in new units across Punjab, Himachal Pradesh, and Jammu &amp; Kashmir aim for a three-fold capacity increase, driving future growth.</a:t>
            </a:r>
          </a:p>
        </p:txBody>
      </p:sp>
      <p:sp>
        <p:nvSpPr>
          <p:cNvPr id="14" name="Oval 13"/>
          <p:cNvSpPr/>
          <p:nvPr/>
        </p:nvSpPr>
        <p:spPr>
          <a:xfrm>
            <a:off x="4389120" y="49377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937760"/>
            <a:ext cx="6858000" cy="822960"/>
          </a:xfrm>
          <a:prstGeom prst="rect">
            <a:avLst/>
          </a:prstGeom>
          <a:noFill/>
        </p:spPr>
        <p:txBody>
          <a:bodyPr wrap="square">
            <a:spAutoFit/>
          </a:bodyPr>
          <a:lstStyle/>
          <a:p>
            <a:r>
              <a:rPr sz="1200" b="1">
                <a:solidFill>
                  <a:srgbClr val="2D235A"/>
                </a:solidFill>
                <a:latin typeface="Arial"/>
              </a:rPr>
              <a:t>Thriving Market Opportunities</a:t>
            </a:r>
          </a:p>
          <a:p>
            <a:pPr>
              <a:defRPr sz="1000">
                <a:solidFill>
                  <a:srgbClr val="3C3C3C"/>
                </a:solidFill>
                <a:latin typeface="Arial"/>
              </a:defRPr>
            </a:pPr>
            <a:r>
              <a:t>The Indian pharma market is projected to double from USD 25 billion in 2024 to USD 50 billion by 2030, creating vast growth potential.</a:t>
            </a:r>
          </a:p>
        </p:txBody>
      </p:sp>
      <p:sp>
        <p:nvSpPr>
          <p:cNvPr id="16" name="TextBox 15"/>
          <p:cNvSpPr txBox="1"/>
          <p:nvPr/>
        </p:nvSpPr>
        <p:spPr>
          <a:xfrm>
            <a:off x="457200" y="5760720"/>
            <a:ext cx="10972800" cy="457200"/>
          </a:xfrm>
          <a:prstGeom prst="rect">
            <a:avLst/>
          </a:prstGeom>
          <a:noFill/>
        </p:spPr>
        <p:txBody>
          <a:bodyPr wrap="none">
            <a:spAutoFit/>
          </a:bodyPr>
          <a:lstStyle/>
          <a:p>
            <a:pPr algn="ctr">
              <a:defRPr sz="1200" i="1">
                <a:solidFill>
                  <a:srgbClr val="3C3C3C"/>
                </a:solidFill>
                <a:latin typeface="Arial"/>
              </a:defRPr>
            </a:pPr>
            <a:r>
              <a:t>This investment represents a unique opportunity to capitalize on strong growth trends and solid financial performance in a dynamic market.</a:t>
            </a:r>
          </a:p>
        </p:txBody>
      </p:sp>
      <p:sp>
        <p:nvSpPr>
          <p:cNvPr id="17" name="TextBox 16"/>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1645920"/>
            <a:ext cx="10972800" cy="731520"/>
          </a:xfrm>
          <a:prstGeom prst="rect">
            <a:avLst/>
          </a:prstGeom>
          <a:noFill/>
        </p:spPr>
        <p:txBody>
          <a:bodyPr wrap="none">
            <a:spAutoFit/>
          </a:bodyPr>
          <a:lstStyle/>
          <a:p>
            <a:r>
              <a:rPr sz="3600" b="1">
                <a:solidFill>
                  <a:srgbClr val="FFFFFF"/>
                </a:solidFill>
                <a:latin typeface="Arial"/>
              </a:rPr>
              <a:t>Important Notice &amp; Disclaimer</a:t>
            </a:r>
          </a:p>
        </p:txBody>
      </p:sp>
      <p:sp>
        <p:nvSpPr>
          <p:cNvPr id="4" name="TextBox 3"/>
          <p:cNvSpPr txBox="1"/>
          <p:nvPr/>
        </p:nvSpPr>
        <p:spPr>
          <a:xfrm>
            <a:off x="457200" y="2743200"/>
            <a:ext cx="10972800" cy="2743200"/>
          </a:xfrm>
          <a:prstGeom prst="rect">
            <a:avLst/>
          </a:prstGeom>
          <a:noFill/>
        </p:spPr>
        <p:txBody>
          <a:bodyPr wrap="square">
            <a:spAutoFit/>
          </a:bodyPr>
          <a:lstStyle/>
          <a:p>
            <a:pPr>
              <a:lnSpc>
                <a:spcPct val="150000"/>
              </a:lnSpc>
            </a:pPr>
            <a:r>
              <a:rPr sz="1400">
                <a:solidFill>
                  <a:srgbClr val="C8C8C8"/>
                </a:solidFill>
                <a:latin typeface="Arial"/>
              </a:rP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based on current assumptions; actual results may vary materially.</a:t>
            </a:r>
          </a:p>
        </p:txBody>
      </p:sp>
      <p:sp>
        <p:nvSpPr>
          <p:cNvPr id="5" name="TextBox 4"/>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