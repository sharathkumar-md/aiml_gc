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D235A"/>
            </a:solidFill>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8174.3</c:v>
                </c:pt>
                <c:pt idx="1">
                  <c:v>7799.4</c:v>
                </c:pt>
                <c:pt idx="2">
                  <c:v>9229.7</c:v>
                </c:pt>
                <c:pt idx="3">
                  <c:v>10908.2</c:v>
                </c:pt>
                <c:pt idx="4">
                  <c:v>11554.2</c:v>
                </c:pt>
              </c:numCache>
            </c:numRef>
          </c:val>
        </c:ser>
        <c:ser>
          <c:idx val="1"/>
          <c:order val="1"/>
          <c:tx>
            <c:strRef>
              <c:f>Sheet1!$C$1</c:f>
              <c:strCache>
                <c:ptCount val="1"/>
                <c:pt idx="0">
                  <c:v>EBITDA</c:v>
                </c:pt>
              </c:strCache>
            </c:strRef>
          </c:tx>
          <c:spPr>
            <a:solidFill>
              <a:srgbClr val="00C8FF"/>
            </a:solidFill>
          </c:spPr>
          <c:cat>
            <c:strRef>
              <c:f>Sheet1!$A$2:$A$6</c:f>
              <c:strCache>
                <c:ptCount val="5"/>
                <c:pt idx="0">
                  <c:v>FY21</c:v>
                </c:pt>
                <c:pt idx="1">
                  <c:v>FY22</c:v>
                </c:pt>
                <c:pt idx="2">
                  <c:v>FY23</c:v>
                </c:pt>
                <c:pt idx="3">
                  <c:v>FY24</c:v>
                </c:pt>
                <c:pt idx="4">
                  <c:v>FY25</c:v>
                </c:pt>
              </c:strCache>
            </c:strRef>
          </c:cat>
          <c:val>
            <c:numRef>
              <c:f>Sheet1!$C$2:$C$6</c:f>
              <c:numCache>
                <c:formatCode>General</c:formatCode>
                <c:ptCount val="5"/>
                <c:pt idx="0">
                  <c:v>895.3</c:v>
                </c:pt>
                <c:pt idx="1">
                  <c:v>742.4</c:v>
                </c:pt>
                <c:pt idx="2">
                  <c:v>762.1</c:v>
                </c:pt>
                <c:pt idx="3">
                  <c:v>858.5</c:v>
                </c:pt>
                <c:pt idx="4">
                  <c:v>967.1</c:v>
                </c:pt>
              </c:numCache>
            </c:numRef>
          </c:val>
        </c:ser>
        <c:ser>
          <c:idx val="2"/>
          <c:order val="2"/>
          <c:tx>
            <c:strRef>
              <c:f>Sheet1!$D$1</c:f>
              <c:strCache>
                <c:ptCount val="1"/>
                <c:pt idx="0">
                  <c:v>PAT</c:v>
                </c:pt>
              </c:strCache>
            </c:strRef>
          </c:tx>
          <c:spPr>
            <a:solidFill>
              <a:srgbClr val="FF6482"/>
            </a:solidFill>
          </c:spPr>
          <c:cat>
            <c:strRef>
              <c:f>Sheet1!$A$2:$A$6</c:f>
              <c:strCache>
                <c:ptCount val="5"/>
                <c:pt idx="0">
                  <c:v>FY21</c:v>
                </c:pt>
                <c:pt idx="1">
                  <c:v>FY22</c:v>
                </c:pt>
                <c:pt idx="2">
                  <c:v>FY23</c:v>
                </c:pt>
                <c:pt idx="3">
                  <c:v>FY24</c:v>
                </c:pt>
                <c:pt idx="4">
                  <c:v>FY25</c:v>
                </c:pt>
              </c:strCache>
            </c:strRef>
          </c:cat>
          <c:val>
            <c:numRef>
              <c:f>Sheet1!$D$2:$D$6</c:f>
              <c:numCache>
                <c:formatCode>General</c:formatCode>
                <c:ptCount val="5"/>
                <c:pt idx="0">
                  <c:v>131.1</c:v>
                </c:pt>
                <c:pt idx="1">
                  <c:v>114.6</c:v>
                </c:pt>
                <c:pt idx="2">
                  <c:v>54.5</c:v>
                </c:pt>
                <c:pt idx="3">
                  <c:v>21.2</c:v>
                </c:pt>
                <c:pt idx="4">
                  <c:v>129.1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2286000"/>
            <a:ext cx="9144000" cy="1371600"/>
          </a:xfrm>
          <a:prstGeom prst="rect">
            <a:avLst/>
          </a:prstGeom>
          <a:noFill/>
        </p:spPr>
        <p:txBody>
          <a:bodyPr wrap="none">
            <a:spAutoFit/>
          </a:bodyPr>
          <a:lstStyle/>
          <a:p>
            <a:r>
              <a:rPr sz="5400" b="1">
                <a:solidFill>
                  <a:srgbClr val="FFFFFF"/>
                </a:solidFill>
                <a:latin typeface="Arial"/>
              </a:rPr>
              <a:t>Project Falcon</a:t>
            </a:r>
          </a:p>
        </p:txBody>
      </p:sp>
      <p:sp>
        <p:nvSpPr>
          <p:cNvPr id="4" name="TextBox 3"/>
          <p:cNvSpPr txBox="1"/>
          <p:nvPr/>
        </p:nvSpPr>
        <p:spPr>
          <a:xfrm>
            <a:off x="457200" y="3840480"/>
            <a:ext cx="5486400" cy="731520"/>
          </a:xfrm>
          <a:prstGeom prst="rect">
            <a:avLst/>
          </a:prstGeom>
          <a:noFill/>
        </p:spPr>
        <p:txBody>
          <a:bodyPr wrap="none">
            <a:spAutoFit/>
          </a:bodyPr>
          <a:lstStyle/>
          <a:p>
            <a:r>
              <a:rPr sz="2400">
                <a:solidFill>
                  <a:srgbClr val="FFFFFF"/>
                </a:solidFill>
                <a:latin typeface="Arial"/>
              </a:rPr>
              <a:t>Investment Brief</a:t>
            </a:r>
          </a:p>
        </p:txBody>
      </p:sp>
      <p:sp>
        <p:nvSpPr>
          <p:cNvPr id="5" name="TextBox 4"/>
          <p:cNvSpPr txBox="1"/>
          <p:nvPr/>
        </p:nvSpPr>
        <p:spPr>
          <a:xfrm>
            <a:off x="457200" y="4572000"/>
            <a:ext cx="3657600" cy="457200"/>
          </a:xfrm>
          <a:prstGeom prst="rect">
            <a:avLst/>
          </a:prstGeom>
          <a:noFill/>
        </p:spPr>
        <p:txBody>
          <a:bodyPr wrap="none">
            <a:spAutoFit/>
          </a:bodyPr>
          <a:lstStyle/>
          <a:p>
            <a:r>
              <a:rPr sz="1400" i="1">
                <a:solidFill>
                  <a:srgbClr val="B4B4B4"/>
                </a:solidFill>
                <a:latin typeface="Arial"/>
              </a:rPr>
              <a:t>kelpglobal.com</a:t>
            </a:r>
          </a:p>
        </p:txBody>
      </p:sp>
      <p:sp>
        <p:nvSpPr>
          <p:cNvPr id="6" name="TextBox 5"/>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Technology &amp; Product Portfolio</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ectangle 4"/>
          <p:cNvSpPr/>
          <p:nvPr/>
        </p:nvSpPr>
        <p:spPr>
          <a:xfrm>
            <a:off x="274320" y="1005840"/>
            <a:ext cx="6858000" cy="32004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6400800" cy="274320"/>
          </a:xfrm>
          <a:prstGeom prst="rect">
            <a:avLst/>
          </a:prstGeom>
          <a:noFill/>
        </p:spPr>
        <p:txBody>
          <a:bodyPr wrap="none">
            <a:spAutoFit/>
          </a:bodyPr>
          <a:lstStyle/>
          <a:p>
            <a:r>
              <a:rPr sz="1200" b="1">
                <a:solidFill>
                  <a:srgbClr val="FFFFFF"/>
                </a:solidFill>
                <a:latin typeface="Arial"/>
              </a:rPr>
              <a:t>Business Overview:</a:t>
            </a:r>
          </a:p>
        </p:txBody>
      </p:sp>
      <p:sp>
        <p:nvSpPr>
          <p:cNvPr id="7" name="TextBox 6"/>
          <p:cNvSpPr txBox="1"/>
          <p:nvPr/>
        </p:nvSpPr>
        <p:spPr>
          <a:xfrm>
            <a:off x="274320" y="1371600"/>
            <a:ext cx="6858000" cy="1280160"/>
          </a:xfrm>
          <a:prstGeom prst="rect">
            <a:avLst/>
          </a:prstGeom>
          <a:noFill/>
        </p:spPr>
        <p:txBody>
          <a:bodyPr wrap="square">
            <a:spAutoFit/>
          </a:bodyPr>
          <a:lstStyle/>
          <a:p>
            <a:pPr>
              <a:defRPr sz="1000">
                <a:solidFill>
                  <a:srgbClr val="3C3C3C"/>
                </a:solidFill>
                <a:latin typeface="Arial"/>
              </a:defRPr>
            </a:pPr>
            <a:r>
              <a:t>The Company is a leading diversified electronics provider specializing in high-technology solutions for the defense, aerospace, and space sectors. With a focus on customized product design and manufacturing, it delivers innovative, mission-critical electronics and passenger information systems globally, enabling flexible engagement models for diverse customer needs.</a:t>
            </a:r>
          </a:p>
        </p:txBody>
      </p:sp>
      <p:sp>
        <p:nvSpPr>
          <p:cNvPr id="8" name="Rectangle 7"/>
          <p:cNvSpPr/>
          <p:nvPr/>
        </p:nvSpPr>
        <p:spPr>
          <a:xfrm>
            <a:off x="7315200" y="1005840"/>
            <a:ext cx="438912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051560"/>
            <a:ext cx="4114800" cy="274320"/>
          </a:xfrm>
          <a:prstGeom prst="rect">
            <a:avLst/>
          </a:prstGeom>
          <a:noFill/>
        </p:spPr>
        <p:txBody>
          <a:bodyPr wrap="none">
            <a:spAutoFit/>
          </a:bodyPr>
          <a:lstStyle/>
          <a:p>
            <a:r>
              <a:rPr sz="1200" b="1">
                <a:solidFill>
                  <a:srgbClr val="FFFFFF"/>
                </a:solidFill>
                <a:latin typeface="Arial"/>
              </a:rPr>
              <a:t>At a Glance</a:t>
            </a:r>
          </a:p>
        </p:txBody>
      </p:sp>
      <p:sp>
        <p:nvSpPr>
          <p:cNvPr id="10" name="TextBox 9"/>
          <p:cNvSpPr txBox="1"/>
          <p:nvPr/>
        </p:nvSpPr>
        <p:spPr>
          <a:xfrm>
            <a:off x="7315200" y="1371600"/>
            <a:ext cx="4389120" cy="2011680"/>
          </a:xfrm>
          <a:prstGeom prst="rect">
            <a:avLst/>
          </a:prstGeom>
          <a:noFill/>
        </p:spPr>
        <p:txBody>
          <a:bodyPr wrap="square">
            <a:spAutoFit/>
          </a:bodyPr>
          <a:lstStyle/>
          <a:p>
            <a:r>
              <a:rPr sz="1400" b="1">
                <a:solidFill>
                  <a:srgbClr val="00C8FF"/>
                </a:solidFill>
                <a:latin typeface="Arial"/>
              </a:rPr>
              <a:t>At a Glance</a:t>
            </a:r>
          </a:p>
          <a:p>
            <a:pPr>
              <a:spcBef>
                <a:spcPts val="400"/>
              </a:spcBef>
            </a:pPr>
            <a:r>
              <a:rPr sz="1000" b="1">
                <a:solidFill>
                  <a:srgbClr val="3C3C3C"/>
                </a:solidFill>
                <a:latin typeface="Arial"/>
              </a:rPr>
              <a:t>Founded: </a:t>
            </a:r>
            <a:r>
              <a:rPr sz="1000">
                <a:solidFill>
                  <a:srgbClr val="3C3C3C"/>
                </a:solidFill>
                <a:latin typeface="Arial"/>
              </a:rPr>
              <a:t>1993</a:t>
            </a:r>
          </a:p>
          <a:p>
            <a:pPr>
              <a:spcBef>
                <a:spcPts val="400"/>
              </a:spcBef>
            </a:pPr>
            <a:r>
              <a:rPr sz="1000" b="1">
                <a:solidFill>
                  <a:srgbClr val="3C3C3C"/>
                </a:solidFill>
                <a:latin typeface="Arial"/>
              </a:rPr>
              <a:t>Employees: </a:t>
            </a:r>
            <a:r>
              <a:rPr sz="1000">
                <a:solidFill>
                  <a:srgbClr val="3C3C3C"/>
                </a:solidFill>
                <a:latin typeface="Arial"/>
              </a:rPr>
              <a:t>2</a:t>
            </a:r>
          </a:p>
          <a:p>
            <a:pPr>
              <a:spcBef>
                <a:spcPts val="400"/>
              </a:spcBef>
            </a:pPr>
            <a:r>
              <a:rPr sz="1000" b="1">
                <a:solidFill>
                  <a:srgbClr val="3C3C3C"/>
                </a:solidFill>
                <a:latin typeface="Arial"/>
              </a:rPr>
              <a:t>Facilities: </a:t>
            </a:r>
            <a:r>
              <a:rPr sz="1000">
                <a:solidFill>
                  <a:srgbClr val="3C3C3C"/>
                </a:solidFill>
                <a:latin typeface="Arial"/>
              </a:rPr>
              <a:t>2 state-of-the-art facilities</a:t>
            </a:r>
          </a:p>
          <a:p>
            <a:pPr>
              <a:spcBef>
                <a:spcPts val="400"/>
              </a:spcBef>
            </a:pPr>
            <a:r>
              <a:rPr sz="1000" b="1">
                <a:solidFill>
                  <a:srgbClr val="3C3C3C"/>
                </a:solidFill>
                <a:latin typeface="Arial"/>
              </a:rPr>
              <a:t>Global Presence: </a:t>
            </a:r>
            <a:r>
              <a:rPr sz="1000">
                <a:solidFill>
                  <a:srgbClr val="3C3C3C"/>
                </a:solidFill>
                <a:latin typeface="Arial"/>
              </a:rPr>
              <a:t>India, France, North America, Europe, Asia</a:t>
            </a:r>
          </a:p>
        </p:txBody>
      </p:sp>
      <p:sp>
        <p:nvSpPr>
          <p:cNvPr id="11" name="TextBox 10"/>
          <p:cNvSpPr txBox="1"/>
          <p:nvPr/>
        </p:nvSpPr>
        <p:spPr>
          <a:xfrm>
            <a:off x="274320" y="2743200"/>
            <a:ext cx="5029200" cy="1828800"/>
          </a:xfrm>
          <a:prstGeom prst="rect">
            <a:avLst/>
          </a:prstGeom>
          <a:noFill/>
        </p:spPr>
        <p:txBody>
          <a:bodyPr wrap="square">
            <a:spAutoFit/>
          </a:bodyPr>
          <a:lstStyle/>
          <a:p>
            <a:r>
              <a:rPr sz="1200" b="1">
                <a:solidFill>
                  <a:srgbClr val="2D235A"/>
                </a:solidFill>
                <a:latin typeface="Arial"/>
              </a:rPr>
              <a:t>Product Portfolio</a:t>
            </a:r>
          </a:p>
          <a:p>
            <a:pPr>
              <a:spcBef>
                <a:spcPts val="200"/>
              </a:spcBef>
              <a:defRPr sz="900">
                <a:solidFill>
                  <a:srgbClr val="3C3C3C"/>
                </a:solidFill>
                <a:latin typeface="Arial"/>
              </a:defRPr>
            </a:pPr>
            <a:r>
              <a:t>• Flexible Engagement Models</a:t>
            </a:r>
          </a:p>
          <a:p>
            <a:pPr>
              <a:spcBef>
                <a:spcPts val="200"/>
              </a:spcBef>
              <a:defRPr sz="900">
                <a:solidFill>
                  <a:srgbClr val="3C3C3C"/>
                </a:solidFill>
                <a:latin typeface="Arial"/>
              </a:defRPr>
            </a:pPr>
            <a:r>
              <a:t>• Passenger Information Systems</a:t>
            </a:r>
          </a:p>
          <a:p>
            <a:pPr>
              <a:spcBef>
                <a:spcPts val="200"/>
              </a:spcBef>
              <a:defRPr sz="900">
                <a:solidFill>
                  <a:srgbClr val="3C3C3C"/>
                </a:solidFill>
                <a:latin typeface="Arial"/>
              </a:defRPr>
            </a:pPr>
            <a:r>
              <a:t>• Strategic Electronics</a:t>
            </a:r>
          </a:p>
          <a:p>
            <a:pPr>
              <a:spcBef>
                <a:spcPts val="200"/>
              </a:spcBef>
              <a:defRPr sz="900">
                <a:solidFill>
                  <a:srgbClr val="3C3C3C"/>
                </a:solidFill>
                <a:latin typeface="Arial"/>
              </a:defRPr>
            </a:pPr>
            <a:r>
              <a:t>• Electronics Manufacturing Solutions</a:t>
            </a:r>
          </a:p>
        </p:txBody>
      </p:sp>
      <p:sp>
        <p:nvSpPr>
          <p:cNvPr id="12" name="TextBox 11"/>
          <p:cNvSpPr txBox="1"/>
          <p:nvPr/>
        </p:nvSpPr>
        <p:spPr>
          <a:xfrm>
            <a:off x="5943600" y="2743200"/>
            <a:ext cx="5029200" cy="1828800"/>
          </a:xfrm>
          <a:prstGeom prst="rect">
            <a:avLst/>
          </a:prstGeom>
          <a:noFill/>
        </p:spPr>
        <p:txBody>
          <a:bodyPr wrap="square">
            <a:spAutoFit/>
          </a:bodyPr>
          <a:lstStyle/>
          <a:p>
            <a:r>
              <a:rPr sz="1200" b="1">
                <a:solidFill>
                  <a:srgbClr val="2D235A"/>
                </a:solidFill>
                <a:latin typeface="Arial"/>
              </a:rPr>
              <a:t>Industries Served</a:t>
            </a:r>
          </a:p>
          <a:p>
            <a:pPr>
              <a:spcBef>
                <a:spcPts val="200"/>
              </a:spcBef>
              <a:defRPr sz="900">
                <a:solidFill>
                  <a:srgbClr val="3C3C3C"/>
                </a:solidFill>
                <a:latin typeface="Arial"/>
              </a:defRPr>
            </a:pPr>
            <a:r>
              <a:t>• Aerospace</a:t>
            </a:r>
          </a:p>
          <a:p>
            <a:pPr>
              <a:spcBef>
                <a:spcPts val="200"/>
              </a:spcBef>
              <a:defRPr sz="900">
                <a:solidFill>
                  <a:srgbClr val="3C3C3C"/>
                </a:solidFill>
                <a:latin typeface="Arial"/>
              </a:defRPr>
            </a:pPr>
            <a:r>
              <a:t>• Defence</a:t>
            </a:r>
          </a:p>
          <a:p>
            <a:pPr>
              <a:spcBef>
                <a:spcPts val="200"/>
              </a:spcBef>
              <a:defRPr sz="900">
                <a:solidFill>
                  <a:srgbClr val="3C3C3C"/>
                </a:solidFill>
                <a:latin typeface="Arial"/>
              </a:defRPr>
            </a:pPr>
            <a:r>
              <a:t>• Space</a:t>
            </a:r>
          </a:p>
          <a:p>
            <a:pPr>
              <a:spcBef>
                <a:spcPts val="200"/>
              </a:spcBef>
              <a:defRPr sz="900">
                <a:solidFill>
                  <a:srgbClr val="3C3C3C"/>
                </a:solidFill>
                <a:latin typeface="Arial"/>
              </a:defRPr>
            </a:pPr>
            <a:r>
              <a:t>• Medical</a:t>
            </a:r>
          </a:p>
          <a:p>
            <a:pPr>
              <a:spcBef>
                <a:spcPts val="200"/>
              </a:spcBef>
              <a:defRPr sz="900">
                <a:solidFill>
                  <a:srgbClr val="3C3C3C"/>
                </a:solidFill>
                <a:latin typeface="Arial"/>
              </a:defRPr>
            </a:pPr>
            <a:r>
              <a:t>• Automotive</a:t>
            </a:r>
          </a:p>
        </p:txBody>
      </p:sp>
      <p:sp>
        <p:nvSpPr>
          <p:cNvPr id="13" name="TextBox 12"/>
          <p:cNvSpPr txBox="1"/>
          <p:nvPr/>
        </p:nvSpPr>
        <p:spPr>
          <a:xfrm>
            <a:off x="274320" y="5029200"/>
            <a:ext cx="10972800" cy="1097280"/>
          </a:xfrm>
          <a:prstGeom prst="rect">
            <a:avLst/>
          </a:prstGeom>
          <a:noFill/>
        </p:spPr>
        <p:txBody>
          <a:bodyPr wrap="square">
            <a:spAutoFit/>
          </a:bodyPr>
          <a:lstStyle/>
          <a:p>
            <a:r>
              <a:rPr sz="1000" b="1">
                <a:solidFill>
                  <a:srgbClr val="2D235A"/>
                </a:solidFill>
                <a:latin typeface="Arial"/>
              </a:rPr>
              <a:t>Certifications: </a:t>
            </a:r>
            <a:r>
              <a:rPr sz="900">
                <a:solidFill>
                  <a:srgbClr val="3C3C3C"/>
                </a:solidFill>
                <a:latin typeface="Arial"/>
              </a:rPr>
              <a:t>ISO/IEC 27001:2013 | ISO-9001:2015 | ISO 13485: 2003 Medical</a:t>
            </a:r>
          </a:p>
        </p:txBody>
      </p:sp>
      <p:sp>
        <p:nvSpPr>
          <p:cNvPr id="14" name="TextBox 13"/>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Manufacturing Excellence &amp; Financials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ounded Rectangle 4"/>
          <p:cNvSpPr/>
          <p:nvPr/>
        </p:nvSpPr>
        <p:spPr>
          <a:xfrm>
            <a:off x="45720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5.5%</a:t>
            </a:r>
          </a:p>
          <a:p>
            <a:pPr algn="ctr"/>
            <a:r>
              <a:rPr sz="900">
                <a:solidFill>
                  <a:srgbClr val="C8C8C8"/>
                </a:solidFill>
                <a:latin typeface="Arial"/>
              </a:rPr>
              <a:t>Revenue CAGR</a:t>
            </a:r>
          </a:p>
        </p:txBody>
      </p:sp>
      <p:sp>
        <p:nvSpPr>
          <p:cNvPr id="6" name="Rounded Rectangle 5"/>
          <p:cNvSpPr/>
          <p:nvPr/>
        </p:nvSpPr>
        <p:spPr>
          <a:xfrm>
            <a:off x="329184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8.4%</a:t>
            </a:r>
          </a:p>
          <a:p>
            <a:pPr algn="ctr"/>
            <a:r>
              <a:rPr sz="900">
                <a:solidFill>
                  <a:srgbClr val="C8C8C8"/>
                </a:solidFill>
                <a:latin typeface="Arial"/>
              </a:rPr>
              <a:t>EBITDA Margin</a:t>
            </a:r>
          </a:p>
        </p:txBody>
      </p:sp>
      <p:sp>
        <p:nvSpPr>
          <p:cNvPr id="7" name="Rounded Rectangle 6"/>
          <p:cNvSpPr/>
          <p:nvPr/>
        </p:nvSpPr>
        <p:spPr>
          <a:xfrm>
            <a:off x="612648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4.4%</a:t>
            </a:r>
          </a:p>
          <a:p>
            <a:pPr algn="ctr"/>
            <a:r>
              <a:rPr sz="900">
                <a:solidFill>
                  <a:srgbClr val="C8C8C8"/>
                </a:solidFill>
                <a:latin typeface="Arial"/>
              </a:rPr>
              <a:t>RoCE</a:t>
            </a:r>
          </a:p>
        </p:txBody>
      </p:sp>
      <p:sp>
        <p:nvSpPr>
          <p:cNvPr id="8" name="Rounded Rectangle 7"/>
          <p:cNvSpPr/>
          <p:nvPr/>
        </p:nvSpPr>
        <p:spPr>
          <a:xfrm>
            <a:off x="896112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3.0%</a:t>
            </a:r>
          </a:p>
          <a:p>
            <a:pPr algn="ctr"/>
            <a:r>
              <a:rPr sz="900">
                <a:solidFill>
                  <a:srgbClr val="C8C8C8"/>
                </a:solidFill>
                <a:latin typeface="Arial"/>
              </a:rPr>
              <a:t>ROE</a:t>
            </a:r>
          </a:p>
        </p:txBody>
      </p:sp>
      <p:graphicFrame>
        <p:nvGraphicFramePr>
          <p:cNvPr id="9" name="Chart 8"/>
          <p:cNvGraphicFramePr>
            <a:graphicFrameLocks noGrp="1"/>
          </p:cNvGraphicFramePr>
          <p:nvPr/>
        </p:nvGraphicFramePr>
        <p:xfrm>
          <a:off x="457200" y="2011680"/>
          <a:ext cx="594360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6858000" y="2743200"/>
            <a:ext cx="4572000" cy="1828800"/>
          </a:xfrm>
          <a:prstGeom prst="rect">
            <a:avLst/>
          </a:prstGeom>
          <a:noFill/>
        </p:spPr>
        <p:txBody>
          <a:bodyPr wrap="square">
            <a:spAutoFit/>
          </a:bodyPr>
          <a:lstStyle/>
          <a:p>
            <a:pPr>
              <a:defRPr sz="1100">
                <a:solidFill>
                  <a:srgbClr val="3C3C3C"/>
                </a:solidFill>
                <a:latin typeface="Arial"/>
              </a:defRPr>
            </a:pPr>
            <a:r>
              <a:t>The company has demonstrated robust revenue growth, achieving a CAGR of 5.5% over the past five years, reflecting strong market demand in the electronics sector. With a consistent improvement in EBITDA, the financial performance is on an upward trajectory.</a:t>
            </a:r>
          </a:p>
        </p:txBody>
      </p:sp>
      <p:sp>
        <p:nvSpPr>
          <p:cNvPr id="11" name="TextBox 10"/>
          <p:cNvSpPr txBox="1"/>
          <p:nvPr/>
        </p:nvSpPr>
        <p:spPr>
          <a:xfrm>
            <a:off x="6858000" y="4572000"/>
            <a:ext cx="4572000" cy="1645920"/>
          </a:xfrm>
          <a:prstGeom prst="rect">
            <a:avLst/>
          </a:prstGeom>
          <a:noFill/>
        </p:spPr>
        <p:txBody>
          <a:bodyPr wrap="square">
            <a:spAutoFit/>
          </a:bodyPr>
          <a:lstStyle/>
          <a:p>
            <a:r>
              <a:rPr sz="1200" b="1">
                <a:solidFill>
                  <a:srgbClr val="2D235A"/>
                </a:solidFill>
                <a:latin typeface="Arial"/>
              </a:rPr>
              <a:t>Key Achievements</a:t>
            </a:r>
          </a:p>
          <a:p>
            <a:pPr>
              <a:spcBef>
                <a:spcPts val="200"/>
              </a:spcBef>
              <a:defRPr sz="900">
                <a:solidFill>
                  <a:srgbClr val="3C3C3C"/>
                </a:solidFill>
                <a:latin typeface="Arial"/>
              </a:defRPr>
            </a:pPr>
            <a:r>
              <a:t>• Achieved record revenue of 11,554.2 million in FY25</a:t>
            </a:r>
          </a:p>
          <a:p>
            <a:pPr>
              <a:spcBef>
                <a:spcPts val="200"/>
              </a:spcBef>
              <a:defRPr sz="900">
                <a:solidFill>
                  <a:srgbClr val="3C3C3C"/>
                </a:solidFill>
                <a:latin typeface="Arial"/>
              </a:defRPr>
            </a:pPr>
            <a:r>
              <a:t>• Increased EBITDA from 895.3 million in FY21 to 967.1 million in FY25</a:t>
            </a:r>
          </a:p>
          <a:p>
            <a:pPr>
              <a:spcBef>
                <a:spcPts val="200"/>
              </a:spcBef>
              <a:defRPr sz="900">
                <a:solidFill>
                  <a:srgbClr val="3C3C3C"/>
                </a:solidFill>
                <a:latin typeface="Arial"/>
              </a:defRPr>
            </a:pPr>
            <a:r>
              <a:t>• Improved profitability with a PAT margin of 1.1%</a:t>
            </a:r>
          </a:p>
        </p:txBody>
      </p:sp>
      <p:sp>
        <p:nvSpPr>
          <p:cNvPr id="12" name="TextBox 11"/>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Investment Highlights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pic>
        <p:nvPicPr>
          <p:cNvPr id="5" name="Picture 4" descr="electronics_circuit_board_semi_unsplash.jpg"/>
          <p:cNvPicPr>
            <a:picLocks noChangeAspect="1"/>
          </p:cNvPicPr>
          <p:nvPr/>
        </p:nvPicPr>
        <p:blipFill>
          <a:blip r:embed="rId2"/>
          <a:stretch>
            <a:fillRect/>
          </a:stretch>
        </p:blipFill>
        <p:spPr>
          <a:xfrm>
            <a:off x="274320" y="1371600"/>
            <a:ext cx="3657600" cy="3657600"/>
          </a:xfrm>
          <a:prstGeom prst="rect">
            <a:avLst/>
          </a:prstGeom>
        </p:spPr>
      </p:pic>
      <p:sp>
        <p:nvSpPr>
          <p:cNvPr id="6" name="Oval 5"/>
          <p:cNvSpPr/>
          <p:nvPr/>
        </p:nvSpPr>
        <p:spPr>
          <a:xfrm>
            <a:off x="4389120" y="12801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80160"/>
            <a:ext cx="6858000" cy="822960"/>
          </a:xfrm>
          <a:prstGeom prst="rect">
            <a:avLst/>
          </a:prstGeom>
          <a:noFill/>
        </p:spPr>
        <p:txBody>
          <a:bodyPr wrap="square">
            <a:spAutoFit/>
          </a:bodyPr>
          <a:lstStyle/>
          <a:p>
            <a:r>
              <a:rPr sz="1200" b="1">
                <a:solidFill>
                  <a:srgbClr val="2D235A"/>
                </a:solidFill>
                <a:latin typeface="Arial"/>
              </a:rPr>
              <a:t>Proven Market Leader in Electronics</a:t>
            </a:r>
          </a:p>
          <a:p>
            <a:pPr>
              <a:defRPr sz="1000">
                <a:solidFill>
                  <a:srgbClr val="3C3C3C"/>
                </a:solidFill>
                <a:latin typeface="Arial"/>
              </a:defRPr>
            </a:pPr>
            <a:r>
              <a:t>With nearly three decades of experience, the company has established a strong reputation and reliability, supported by successful joint ventures with multinational firms.</a:t>
            </a:r>
          </a:p>
        </p:txBody>
      </p:sp>
      <p:sp>
        <p:nvSpPr>
          <p:cNvPr id="8" name="Oval 7"/>
          <p:cNvSpPr/>
          <p:nvPr/>
        </p:nvSpPr>
        <p:spPr>
          <a:xfrm>
            <a:off x="4389120" y="21945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6858000" cy="822960"/>
          </a:xfrm>
          <a:prstGeom prst="rect">
            <a:avLst/>
          </a:prstGeom>
          <a:noFill/>
        </p:spPr>
        <p:txBody>
          <a:bodyPr wrap="square">
            <a:spAutoFit/>
          </a:bodyPr>
          <a:lstStyle/>
          <a:p>
            <a:r>
              <a:rPr sz="1200" b="1">
                <a:solidFill>
                  <a:srgbClr val="2D235A"/>
                </a:solidFill>
                <a:latin typeface="Arial"/>
              </a:rPr>
              <a:t>Robust Order Book Ensures Revenue Stability</a:t>
            </a:r>
          </a:p>
          <a:p>
            <a:pPr>
              <a:defRPr sz="1000">
                <a:solidFill>
                  <a:srgbClr val="3C3C3C"/>
                </a:solidFill>
                <a:latin typeface="Arial"/>
              </a:defRPr>
            </a:pPr>
            <a:r>
              <a:t>A substantial order book of ₹1303 crore as of September 30, 2024, provides significant revenue visibility and positions the company for sustained profitability.</a:t>
            </a:r>
          </a:p>
        </p:txBody>
      </p:sp>
      <p:sp>
        <p:nvSpPr>
          <p:cNvPr id="10" name="Oval 9"/>
          <p:cNvSpPr/>
          <p:nvPr/>
        </p:nvSpPr>
        <p:spPr>
          <a:xfrm>
            <a:off x="4389120" y="31089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108960"/>
            <a:ext cx="6858000" cy="822960"/>
          </a:xfrm>
          <a:prstGeom prst="rect">
            <a:avLst/>
          </a:prstGeom>
          <a:noFill/>
        </p:spPr>
        <p:txBody>
          <a:bodyPr wrap="square">
            <a:spAutoFit/>
          </a:bodyPr>
          <a:lstStyle/>
          <a:p>
            <a:r>
              <a:rPr sz="1200" b="1">
                <a:solidFill>
                  <a:srgbClr val="2D235A"/>
                </a:solidFill>
                <a:latin typeface="Arial"/>
              </a:rPr>
              <a:t>Strategic Partnerships with Key Clients</a:t>
            </a:r>
          </a:p>
          <a:p>
            <a:pPr>
              <a:defRPr sz="1000">
                <a:solidFill>
                  <a:srgbClr val="3C3C3C"/>
                </a:solidFill>
                <a:latin typeface="Arial"/>
              </a:defRPr>
            </a:pPr>
            <a:r>
              <a:t>Collaboration with prestigious clients like ISRO and DRDO enhances credibility and market position, having contributed to major space missions.</a:t>
            </a:r>
          </a:p>
        </p:txBody>
      </p:sp>
      <p:sp>
        <p:nvSpPr>
          <p:cNvPr id="12" name="Oval 11"/>
          <p:cNvSpPr/>
          <p:nvPr/>
        </p:nvSpPr>
        <p:spPr>
          <a:xfrm>
            <a:off x="4389120" y="40233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6858000" cy="822960"/>
          </a:xfrm>
          <a:prstGeom prst="rect">
            <a:avLst/>
          </a:prstGeom>
          <a:noFill/>
        </p:spPr>
        <p:txBody>
          <a:bodyPr wrap="square">
            <a:spAutoFit/>
          </a:bodyPr>
          <a:lstStyle/>
          <a:p>
            <a:r>
              <a:rPr sz="1200" b="1">
                <a:solidFill>
                  <a:srgbClr val="2D235A"/>
                </a:solidFill>
                <a:latin typeface="Arial"/>
              </a:rPr>
              <a:t>Significant Expansion and Growth Plans</a:t>
            </a:r>
          </a:p>
          <a:p>
            <a:pPr>
              <a:defRPr sz="1000">
                <a:solidFill>
                  <a:srgbClr val="3C3C3C"/>
                </a:solidFill>
                <a:latin typeface="Arial"/>
              </a:defRPr>
            </a:pPr>
            <a:r>
              <a:t>Plans to raise ₹250 crore for expansion and increased working capital will enhance operational capacity and market reach to meet rising demand.</a:t>
            </a:r>
          </a:p>
        </p:txBody>
      </p:sp>
      <p:sp>
        <p:nvSpPr>
          <p:cNvPr id="14" name="Oval 13"/>
          <p:cNvSpPr/>
          <p:nvPr/>
        </p:nvSpPr>
        <p:spPr>
          <a:xfrm>
            <a:off x="4389120" y="49377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937760"/>
            <a:ext cx="6858000" cy="822960"/>
          </a:xfrm>
          <a:prstGeom prst="rect">
            <a:avLst/>
          </a:prstGeom>
          <a:noFill/>
        </p:spPr>
        <p:txBody>
          <a:bodyPr wrap="square">
            <a:spAutoFit/>
          </a:bodyPr>
          <a:lstStyle/>
          <a:p>
            <a:r>
              <a:rPr sz="1200" b="1">
                <a:solidFill>
                  <a:srgbClr val="2D235A"/>
                </a:solidFill>
                <a:latin typeface="Arial"/>
              </a:rPr>
              <a:t>Capitalizing on Growing Electronics Demand</a:t>
            </a:r>
          </a:p>
          <a:p>
            <a:pPr>
              <a:defRPr sz="1000">
                <a:solidFill>
                  <a:srgbClr val="3C3C3C"/>
                </a:solidFill>
                <a:latin typeface="Arial"/>
              </a:defRPr>
            </a:pPr>
            <a:r>
              <a:t>The company is poised to benefit from a projected growth in India's ER&amp;D export market, expected to surge from $44-45 billion in 2023 to $130-170 billion by 2030.</a:t>
            </a:r>
          </a:p>
        </p:txBody>
      </p:sp>
      <p:sp>
        <p:nvSpPr>
          <p:cNvPr id="16" name="TextBox 15"/>
          <p:cNvSpPr txBox="1"/>
          <p:nvPr/>
        </p:nvSpPr>
        <p:spPr>
          <a:xfrm>
            <a:off x="457200" y="5760720"/>
            <a:ext cx="10972800" cy="457200"/>
          </a:xfrm>
          <a:prstGeom prst="rect">
            <a:avLst/>
          </a:prstGeom>
          <a:noFill/>
        </p:spPr>
        <p:txBody>
          <a:bodyPr wrap="none">
            <a:spAutoFit/>
          </a:bodyPr>
          <a:lstStyle/>
          <a:p>
            <a:pPr algn="ctr">
              <a:defRPr sz="1200" i="1">
                <a:solidFill>
                  <a:srgbClr val="3C3C3C"/>
                </a:solidFill>
                <a:latin typeface="Arial"/>
              </a:defRPr>
            </a:pPr>
            <a:r>
              <a:t>This opportunity represents a compelling investment in a resilient and growth-oriented electronics leader.</a:t>
            </a:r>
          </a:p>
        </p:txBody>
      </p:sp>
      <p:sp>
        <p:nvSpPr>
          <p:cNvPr id="17" name="TextBox 16"/>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1645920"/>
            <a:ext cx="10972800" cy="731520"/>
          </a:xfrm>
          <a:prstGeom prst="rect">
            <a:avLst/>
          </a:prstGeom>
          <a:noFill/>
        </p:spPr>
        <p:txBody>
          <a:bodyPr wrap="none">
            <a:spAutoFit/>
          </a:bodyPr>
          <a:lstStyle/>
          <a:p>
            <a:r>
              <a:rPr sz="3600" b="1">
                <a:solidFill>
                  <a:srgbClr val="FFFFFF"/>
                </a:solidFill>
                <a:latin typeface="Arial"/>
              </a:rPr>
              <a:t>Important Notice &amp; Disclaimer</a:t>
            </a:r>
          </a:p>
        </p:txBody>
      </p:sp>
      <p:sp>
        <p:nvSpPr>
          <p:cNvPr id="4" name="TextBox 3"/>
          <p:cNvSpPr txBox="1"/>
          <p:nvPr/>
        </p:nvSpPr>
        <p:spPr>
          <a:xfrm>
            <a:off x="457200" y="2743200"/>
            <a:ext cx="10972800" cy="2743200"/>
          </a:xfrm>
          <a:prstGeom prst="rect">
            <a:avLst/>
          </a:prstGeom>
          <a:noFill/>
        </p:spPr>
        <p:txBody>
          <a:bodyPr wrap="square">
            <a:spAutoFit/>
          </a:bodyPr>
          <a:lstStyle/>
          <a:p>
            <a:pPr>
              <a:lnSpc>
                <a:spcPct val="150000"/>
              </a:lnSpc>
            </a:pPr>
            <a:r>
              <a:rPr sz="1400">
                <a:solidFill>
                  <a:srgbClr val="C8C8C8"/>
                </a:solidFill>
                <a:latin typeface="Arial"/>
              </a:rP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based on current assumptions; actual results may vary materially.</a:t>
            </a:r>
          </a:p>
        </p:txBody>
      </p:sp>
      <p:sp>
        <p:nvSpPr>
          <p:cNvPr id="5" name="TextBox 4"/>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