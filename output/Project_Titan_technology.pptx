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c:v>
                </c:pt>
              </c:strCache>
            </c:strRef>
          </c:tx>
          <c:spPr>
            <a:solidFill>
              <a:srgbClr val="2D235A"/>
            </a:solidFill>
          </c:spPr>
          <c:cat>
            <c:strRef>
              <c:f>Sheet1!$A$2:$A$6</c:f>
              <c:strCache>
                <c:ptCount val="5"/>
                <c:pt idx="0">
                  <c:v>FY21</c:v>
                </c:pt>
                <c:pt idx="1">
                  <c:v>FY22</c:v>
                </c:pt>
                <c:pt idx="2">
                  <c:v>FY23</c:v>
                </c:pt>
                <c:pt idx="3">
                  <c:v>FY24</c:v>
                </c:pt>
                <c:pt idx="4">
                  <c:v>FY25</c:v>
                </c:pt>
              </c:strCache>
            </c:strRef>
          </c:cat>
          <c:val>
            <c:numRef>
              <c:f>Sheet1!$B$2:$B$6</c:f>
              <c:numCache>
                <c:formatCode>General</c:formatCode>
                <c:ptCount val="5"/>
                <c:pt idx="0">
                  <c:v>282.2</c:v>
                </c:pt>
                <c:pt idx="1">
                  <c:v>470.7</c:v>
                </c:pt>
                <c:pt idx="2">
                  <c:v>783.1</c:v>
                </c:pt>
                <c:pt idx="3">
                  <c:v>1086.4</c:v>
                </c:pt>
                <c:pt idx="4">
                  <c:v>1374.3</c:v>
                </c:pt>
              </c:numCache>
            </c:numRef>
          </c:val>
        </c:ser>
        <c:ser>
          <c:idx val="1"/>
          <c:order val="1"/>
          <c:tx>
            <c:strRef>
              <c:f>Sheet1!$C$1</c:f>
              <c:strCache>
                <c:ptCount val="1"/>
                <c:pt idx="0">
                  <c:v>EBITDA</c:v>
                </c:pt>
              </c:strCache>
            </c:strRef>
          </c:tx>
          <c:spPr>
            <a:solidFill>
              <a:srgbClr val="00C8FF"/>
            </a:solidFill>
          </c:spPr>
          <c:cat>
            <c:strRef>
              <c:f>Sheet1!$A$2:$A$6</c:f>
              <c:strCache>
                <c:ptCount val="5"/>
                <c:pt idx="0">
                  <c:v>FY21</c:v>
                </c:pt>
                <c:pt idx="1">
                  <c:v>FY22</c:v>
                </c:pt>
                <c:pt idx="2">
                  <c:v>FY23</c:v>
                </c:pt>
                <c:pt idx="3">
                  <c:v>FY24</c:v>
                </c:pt>
                <c:pt idx="4">
                  <c:v>FY25</c:v>
                </c:pt>
              </c:strCache>
            </c:strRef>
          </c:cat>
          <c:val>
            <c:numRef>
              <c:f>Sheet1!$C$2:$C$6</c:f>
              <c:numCache>
                <c:formatCode>General</c:formatCode>
                <c:ptCount val="5"/>
                <c:pt idx="0">
                  <c:v>121.4</c:v>
                </c:pt>
                <c:pt idx="1">
                  <c:v>201.4</c:v>
                </c:pt>
                <c:pt idx="2">
                  <c:v>328.6</c:v>
                </c:pt>
                <c:pt idx="3">
                  <c:v>470.0</c:v>
                </c:pt>
                <c:pt idx="4">
                  <c:v>488.9</c:v>
                </c:pt>
              </c:numCache>
            </c:numRef>
          </c:val>
        </c:ser>
        <c:ser>
          <c:idx val="2"/>
          <c:order val="2"/>
          <c:tx>
            <c:strRef>
              <c:f>Sheet1!$D$1</c:f>
              <c:strCache>
                <c:ptCount val="1"/>
                <c:pt idx="0">
                  <c:v>PAT</c:v>
                </c:pt>
              </c:strCache>
            </c:strRef>
          </c:tx>
          <c:spPr>
            <a:solidFill>
              <a:srgbClr val="FF6482"/>
            </a:solidFill>
          </c:spPr>
          <c:cat>
            <c:strRef>
              <c:f>Sheet1!$A$2:$A$6</c:f>
              <c:strCache>
                <c:ptCount val="5"/>
                <c:pt idx="0">
                  <c:v>FY21</c:v>
                </c:pt>
                <c:pt idx="1">
                  <c:v>FY22</c:v>
                </c:pt>
                <c:pt idx="2">
                  <c:v>FY23</c:v>
                </c:pt>
                <c:pt idx="3">
                  <c:v>FY24</c:v>
                </c:pt>
                <c:pt idx="4">
                  <c:v>FY25</c:v>
                </c:pt>
              </c:strCache>
            </c:strRef>
          </c:cat>
          <c:val>
            <c:numRef>
              <c:f>Sheet1!$D$2:$D$6</c:f>
              <c:numCache>
                <c:formatCode>General</c:formatCode>
                <c:ptCount val="5"/>
                <c:pt idx="0">
                  <c:v>89.4</c:v>
                </c:pt>
                <c:pt idx="1">
                  <c:v>158.9</c:v>
                </c:pt>
                <c:pt idx="2">
                  <c:v>247.2</c:v>
                </c:pt>
                <c:pt idx="3">
                  <c:v>341.6</c:v>
                </c:pt>
                <c:pt idx="4">
                  <c:v>343.2</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D235A"/>
        </a:solidFill>
        <a:effectLst/>
      </p:bgPr>
    </p:bg>
    <p:spTree>
      <p:nvGrpSpPr>
        <p:cNvPr id="1" name=""/>
        <p:cNvGrpSpPr/>
        <p:nvPr/>
      </p:nvGrpSpPr>
      <p:grpSpPr/>
      <p:sp>
        <p:nvSpPr>
          <p:cNvPr id="2" name="TextBox 1"/>
          <p:cNvSpPr txBox="1"/>
          <p:nvPr/>
        </p:nvSpPr>
        <p:spPr>
          <a:xfrm>
            <a:off x="457200" y="457200"/>
            <a:ext cx="1828800" cy="548640"/>
          </a:xfrm>
          <a:prstGeom prst="rect">
            <a:avLst/>
          </a:prstGeom>
          <a:noFill/>
        </p:spPr>
        <p:txBody>
          <a:bodyPr wrap="none">
            <a:spAutoFit/>
          </a:bodyPr>
          <a:lstStyle/>
          <a:p>
            <a:r>
              <a:rPr sz="3200" b="1">
                <a:solidFill>
                  <a:srgbClr val="FF6482"/>
                </a:solidFill>
                <a:latin typeface="Arial"/>
              </a:rPr>
              <a:t>Kelp</a:t>
            </a:r>
          </a:p>
        </p:txBody>
      </p:sp>
      <p:sp>
        <p:nvSpPr>
          <p:cNvPr id="3" name="TextBox 2"/>
          <p:cNvSpPr txBox="1"/>
          <p:nvPr/>
        </p:nvSpPr>
        <p:spPr>
          <a:xfrm>
            <a:off x="457200" y="2286000"/>
            <a:ext cx="9144000" cy="1371600"/>
          </a:xfrm>
          <a:prstGeom prst="rect">
            <a:avLst/>
          </a:prstGeom>
          <a:noFill/>
        </p:spPr>
        <p:txBody>
          <a:bodyPr wrap="none">
            <a:spAutoFit/>
          </a:bodyPr>
          <a:lstStyle/>
          <a:p>
            <a:r>
              <a:rPr sz="5400" b="1">
                <a:solidFill>
                  <a:srgbClr val="FFFFFF"/>
                </a:solidFill>
                <a:latin typeface="Arial"/>
              </a:rPr>
              <a:t>Project Titan</a:t>
            </a:r>
          </a:p>
        </p:txBody>
      </p:sp>
      <p:sp>
        <p:nvSpPr>
          <p:cNvPr id="4" name="TextBox 3"/>
          <p:cNvSpPr txBox="1"/>
          <p:nvPr/>
        </p:nvSpPr>
        <p:spPr>
          <a:xfrm>
            <a:off x="457200" y="3840480"/>
            <a:ext cx="5486400" cy="731520"/>
          </a:xfrm>
          <a:prstGeom prst="rect">
            <a:avLst/>
          </a:prstGeom>
          <a:noFill/>
        </p:spPr>
        <p:txBody>
          <a:bodyPr wrap="none">
            <a:spAutoFit/>
          </a:bodyPr>
          <a:lstStyle/>
          <a:p>
            <a:r>
              <a:rPr sz="2400">
                <a:solidFill>
                  <a:srgbClr val="FFFFFF"/>
                </a:solidFill>
                <a:latin typeface="Arial"/>
              </a:rPr>
              <a:t>Investment Brief</a:t>
            </a:r>
          </a:p>
        </p:txBody>
      </p:sp>
      <p:sp>
        <p:nvSpPr>
          <p:cNvPr id="5" name="TextBox 4"/>
          <p:cNvSpPr txBox="1"/>
          <p:nvPr/>
        </p:nvSpPr>
        <p:spPr>
          <a:xfrm>
            <a:off x="457200" y="4572000"/>
            <a:ext cx="3657600" cy="457200"/>
          </a:xfrm>
          <a:prstGeom prst="rect">
            <a:avLst/>
          </a:prstGeom>
          <a:noFill/>
        </p:spPr>
        <p:txBody>
          <a:bodyPr wrap="none">
            <a:spAutoFit/>
          </a:bodyPr>
          <a:lstStyle/>
          <a:p>
            <a:r>
              <a:rPr sz="1400" i="1">
                <a:solidFill>
                  <a:srgbClr val="B4B4B4"/>
                </a:solidFill>
                <a:latin typeface="Arial"/>
              </a:rPr>
              <a:t>kelpglobal.com</a:t>
            </a:r>
          </a:p>
        </p:txBody>
      </p:sp>
      <p:sp>
        <p:nvSpPr>
          <p:cNvPr id="6" name="TextBox 5"/>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457200"/>
          </a:xfrm>
          <a:prstGeom prst="rect">
            <a:avLst/>
          </a:prstGeom>
          <a:noFill/>
        </p:spPr>
        <p:txBody>
          <a:bodyPr wrap="none">
            <a:spAutoFit/>
          </a:bodyPr>
          <a:lstStyle/>
          <a:p>
            <a:r>
              <a:rPr sz="2400" b="1">
                <a:solidFill>
                  <a:srgbClr val="FFFFFF"/>
                </a:solidFill>
                <a:latin typeface="Arial"/>
              </a:rPr>
              <a:t>Technology Overview &amp; Capabilities</a:t>
            </a:r>
          </a:p>
        </p:txBody>
      </p:sp>
      <p:sp>
        <p:nvSpPr>
          <p:cNvPr id="4" name="TextBox 3"/>
          <p:cNvSpPr txBox="1"/>
          <p:nvPr/>
        </p:nvSpPr>
        <p:spPr>
          <a:xfrm>
            <a:off x="10515600" y="228600"/>
            <a:ext cx="1371600" cy="457200"/>
          </a:xfrm>
          <a:prstGeom prst="rect">
            <a:avLst/>
          </a:prstGeom>
          <a:noFill/>
        </p:spPr>
        <p:txBody>
          <a:bodyPr wrap="none">
            <a:spAutoFit/>
          </a:bodyPr>
          <a:lstStyle/>
          <a:p>
            <a:pPr algn="r"/>
            <a:r>
              <a:rPr sz="2000" b="1">
                <a:solidFill>
                  <a:srgbClr val="FF6482"/>
                </a:solidFill>
                <a:latin typeface="Arial"/>
              </a:rPr>
              <a:t>Kelp</a:t>
            </a:r>
          </a:p>
        </p:txBody>
      </p:sp>
      <p:sp>
        <p:nvSpPr>
          <p:cNvPr id="5" name="Rectangle 4"/>
          <p:cNvSpPr/>
          <p:nvPr/>
        </p:nvSpPr>
        <p:spPr>
          <a:xfrm>
            <a:off x="274320" y="1005840"/>
            <a:ext cx="6858000" cy="32004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051560"/>
            <a:ext cx="6400800" cy="274320"/>
          </a:xfrm>
          <a:prstGeom prst="rect">
            <a:avLst/>
          </a:prstGeom>
          <a:noFill/>
        </p:spPr>
        <p:txBody>
          <a:bodyPr wrap="none">
            <a:spAutoFit/>
          </a:bodyPr>
          <a:lstStyle/>
          <a:p>
            <a:r>
              <a:rPr sz="1200" b="1">
                <a:solidFill>
                  <a:srgbClr val="FFFFFF"/>
                </a:solidFill>
                <a:latin typeface="Arial"/>
              </a:rPr>
              <a:t>Business Overview:</a:t>
            </a:r>
          </a:p>
        </p:txBody>
      </p:sp>
      <p:sp>
        <p:nvSpPr>
          <p:cNvPr id="7" name="TextBox 6"/>
          <p:cNvSpPr txBox="1"/>
          <p:nvPr/>
        </p:nvSpPr>
        <p:spPr>
          <a:xfrm>
            <a:off x="274320" y="1371600"/>
            <a:ext cx="6858000" cy="1280160"/>
          </a:xfrm>
          <a:prstGeom prst="rect">
            <a:avLst/>
          </a:prstGeom>
          <a:noFill/>
        </p:spPr>
        <p:txBody>
          <a:bodyPr wrap="square">
            <a:spAutoFit/>
          </a:bodyPr>
          <a:lstStyle/>
          <a:p>
            <a:pPr>
              <a:defRPr sz="1000">
                <a:solidFill>
                  <a:srgbClr val="3C3C3C"/>
                </a:solidFill>
                <a:latin typeface="Arial"/>
              </a:defRPr>
            </a:pPr>
            <a:r>
              <a:t>The Company is a leading software development firm that specializes in cutting-edge technologies, delivering customized solutions in AI/ML, Big Data, and Salesforce. With a highly skilled workforce and a commitment to excellence, The Company drives client success and operational efficiency across various sectors.</a:t>
            </a:r>
          </a:p>
        </p:txBody>
      </p:sp>
      <p:sp>
        <p:nvSpPr>
          <p:cNvPr id="8" name="Rectangle 7"/>
          <p:cNvSpPr/>
          <p:nvPr/>
        </p:nvSpPr>
        <p:spPr>
          <a:xfrm>
            <a:off x="7315200" y="1005840"/>
            <a:ext cx="4389120" cy="32004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0" y="1051560"/>
            <a:ext cx="4114800" cy="274320"/>
          </a:xfrm>
          <a:prstGeom prst="rect">
            <a:avLst/>
          </a:prstGeom>
          <a:noFill/>
        </p:spPr>
        <p:txBody>
          <a:bodyPr wrap="none">
            <a:spAutoFit/>
          </a:bodyPr>
          <a:lstStyle/>
          <a:p>
            <a:r>
              <a:rPr sz="1200" b="1">
                <a:solidFill>
                  <a:srgbClr val="FFFFFF"/>
                </a:solidFill>
                <a:latin typeface="Arial"/>
              </a:rPr>
              <a:t>At a Glance</a:t>
            </a:r>
          </a:p>
        </p:txBody>
      </p:sp>
      <p:sp>
        <p:nvSpPr>
          <p:cNvPr id="10" name="TextBox 9"/>
          <p:cNvSpPr txBox="1"/>
          <p:nvPr/>
        </p:nvSpPr>
        <p:spPr>
          <a:xfrm>
            <a:off x="7315200" y="1371600"/>
            <a:ext cx="4389120" cy="2011680"/>
          </a:xfrm>
          <a:prstGeom prst="rect">
            <a:avLst/>
          </a:prstGeom>
          <a:noFill/>
        </p:spPr>
        <p:txBody>
          <a:bodyPr wrap="square">
            <a:spAutoFit/>
          </a:bodyPr>
          <a:lstStyle/>
          <a:p>
            <a:r>
              <a:rPr sz="1400" b="1">
                <a:solidFill>
                  <a:srgbClr val="00C8FF"/>
                </a:solidFill>
                <a:latin typeface="Arial"/>
              </a:rPr>
              <a:t>At a Glance</a:t>
            </a:r>
          </a:p>
          <a:p>
            <a:pPr>
              <a:spcBef>
                <a:spcPts val="400"/>
              </a:spcBef>
            </a:pPr>
            <a:r>
              <a:rPr sz="1000" b="1">
                <a:solidFill>
                  <a:srgbClr val="3C3C3C"/>
                </a:solidFill>
                <a:latin typeface="Arial"/>
              </a:rPr>
              <a:t>Founded: </a:t>
            </a:r>
            <a:r>
              <a:rPr sz="1000">
                <a:solidFill>
                  <a:srgbClr val="3C3C3C"/>
                </a:solidFill>
                <a:latin typeface="Arial"/>
              </a:rPr>
              <a:t>2014</a:t>
            </a:r>
          </a:p>
          <a:p>
            <a:pPr>
              <a:spcBef>
                <a:spcPts val="400"/>
              </a:spcBef>
            </a:pPr>
            <a:r>
              <a:rPr sz="1000" b="1">
                <a:solidFill>
                  <a:srgbClr val="3C3C3C"/>
                </a:solidFill>
                <a:latin typeface="Arial"/>
              </a:rPr>
              <a:t>Employees: </a:t>
            </a:r>
            <a:r>
              <a:rPr sz="1000">
                <a:solidFill>
                  <a:srgbClr val="3C3C3C"/>
                </a:solidFill>
                <a:latin typeface="Arial"/>
              </a:rPr>
              <a:t>831</a:t>
            </a:r>
          </a:p>
          <a:p>
            <a:pPr>
              <a:spcBef>
                <a:spcPts val="400"/>
              </a:spcBef>
            </a:pPr>
            <a:r>
              <a:rPr sz="1000" b="1">
                <a:solidFill>
                  <a:srgbClr val="3C3C3C"/>
                </a:solidFill>
                <a:latin typeface="Arial"/>
              </a:rPr>
              <a:t>Facilities: </a:t>
            </a:r>
            <a:r>
              <a:rPr sz="1000">
                <a:solidFill>
                  <a:srgbClr val="3C3C3C"/>
                </a:solidFill>
                <a:latin typeface="Arial"/>
              </a:rPr>
              <a:t>5 state-of-the-art facilities</a:t>
            </a:r>
          </a:p>
          <a:p>
            <a:pPr>
              <a:spcBef>
                <a:spcPts val="400"/>
              </a:spcBef>
            </a:pPr>
            <a:r>
              <a:rPr sz="1000" b="1">
                <a:solidFill>
                  <a:srgbClr val="3C3C3C"/>
                </a:solidFill>
                <a:latin typeface="Arial"/>
              </a:rPr>
              <a:t>Global Presence: </a:t>
            </a:r>
            <a:r>
              <a:rPr sz="1000">
                <a:solidFill>
                  <a:srgbClr val="3C3C3C"/>
                </a:solidFill>
                <a:latin typeface="Arial"/>
              </a:rPr>
              <a:t>India, USA</a:t>
            </a:r>
          </a:p>
        </p:txBody>
      </p:sp>
      <p:sp>
        <p:nvSpPr>
          <p:cNvPr id="11" name="TextBox 10"/>
          <p:cNvSpPr txBox="1"/>
          <p:nvPr/>
        </p:nvSpPr>
        <p:spPr>
          <a:xfrm>
            <a:off x="274320" y="2743200"/>
            <a:ext cx="5029200" cy="1828800"/>
          </a:xfrm>
          <a:prstGeom prst="rect">
            <a:avLst/>
          </a:prstGeom>
          <a:noFill/>
        </p:spPr>
        <p:txBody>
          <a:bodyPr wrap="square">
            <a:spAutoFit/>
          </a:bodyPr>
          <a:lstStyle/>
          <a:p>
            <a:r>
              <a:rPr sz="1200" b="1">
                <a:solidFill>
                  <a:srgbClr val="2D235A"/>
                </a:solidFill>
                <a:latin typeface="Arial"/>
              </a:rPr>
              <a:t>Product Portfolio</a:t>
            </a:r>
          </a:p>
          <a:p>
            <a:pPr>
              <a:spcBef>
                <a:spcPts val="200"/>
              </a:spcBef>
              <a:defRPr sz="900">
                <a:solidFill>
                  <a:srgbClr val="3C3C3C"/>
                </a:solidFill>
                <a:latin typeface="Arial"/>
              </a:defRPr>
            </a:pPr>
            <a:r>
              <a:t>• AI/ML</a:t>
            </a:r>
          </a:p>
          <a:p>
            <a:pPr>
              <a:spcBef>
                <a:spcPts val="200"/>
              </a:spcBef>
              <a:defRPr sz="900">
                <a:solidFill>
                  <a:srgbClr val="3C3C3C"/>
                </a:solidFill>
                <a:latin typeface="Arial"/>
              </a:defRPr>
            </a:pPr>
            <a:r>
              <a:t>• Big Data</a:t>
            </a:r>
          </a:p>
          <a:p>
            <a:pPr>
              <a:spcBef>
                <a:spcPts val="200"/>
              </a:spcBef>
              <a:defRPr sz="900">
                <a:solidFill>
                  <a:srgbClr val="3C3C3C"/>
                </a:solidFill>
                <a:latin typeface="Arial"/>
              </a:defRPr>
            </a:pPr>
            <a:r>
              <a:t>• Salesforce</a:t>
            </a:r>
          </a:p>
          <a:p>
            <a:pPr>
              <a:spcBef>
                <a:spcPts val="200"/>
              </a:spcBef>
              <a:defRPr sz="900">
                <a:solidFill>
                  <a:srgbClr val="3C3C3C"/>
                </a:solidFill>
                <a:latin typeface="Arial"/>
              </a:defRPr>
            </a:pPr>
            <a:r>
              <a:t>• DevOps</a:t>
            </a:r>
          </a:p>
        </p:txBody>
      </p:sp>
      <p:sp>
        <p:nvSpPr>
          <p:cNvPr id="12" name="TextBox 11"/>
          <p:cNvSpPr txBox="1"/>
          <p:nvPr/>
        </p:nvSpPr>
        <p:spPr>
          <a:xfrm>
            <a:off x="5943600" y="2743200"/>
            <a:ext cx="5029200" cy="1828800"/>
          </a:xfrm>
          <a:prstGeom prst="rect">
            <a:avLst/>
          </a:prstGeom>
          <a:noFill/>
        </p:spPr>
        <p:txBody>
          <a:bodyPr wrap="square">
            <a:spAutoFit/>
          </a:bodyPr>
          <a:lstStyle/>
          <a:p>
            <a:r>
              <a:rPr sz="1200" b="1">
                <a:solidFill>
                  <a:srgbClr val="2D235A"/>
                </a:solidFill>
                <a:latin typeface="Arial"/>
              </a:rPr>
              <a:t>Industries Served</a:t>
            </a:r>
          </a:p>
          <a:p>
            <a:pPr>
              <a:spcBef>
                <a:spcPts val="200"/>
              </a:spcBef>
              <a:defRPr sz="900">
                <a:solidFill>
                  <a:srgbClr val="3C3C3C"/>
                </a:solidFill>
                <a:latin typeface="Arial"/>
              </a:defRPr>
            </a:pPr>
            <a:r>
              <a:t>• Big Data</a:t>
            </a:r>
          </a:p>
          <a:p>
            <a:pPr>
              <a:spcBef>
                <a:spcPts val="200"/>
              </a:spcBef>
              <a:defRPr sz="900">
                <a:solidFill>
                  <a:srgbClr val="3C3C3C"/>
                </a:solidFill>
                <a:latin typeface="Arial"/>
              </a:defRPr>
            </a:pPr>
            <a:r>
              <a:t>• Machine Learning</a:t>
            </a:r>
          </a:p>
          <a:p>
            <a:pPr>
              <a:spcBef>
                <a:spcPts val="200"/>
              </a:spcBef>
              <a:defRPr sz="900">
                <a:solidFill>
                  <a:srgbClr val="3C3C3C"/>
                </a:solidFill>
                <a:latin typeface="Arial"/>
              </a:defRPr>
            </a:pPr>
            <a:r>
              <a:t>• Salesforce</a:t>
            </a:r>
          </a:p>
        </p:txBody>
      </p:sp>
      <p:sp>
        <p:nvSpPr>
          <p:cNvPr id="13" name="TextBox 12"/>
          <p:cNvSpPr txBox="1"/>
          <p:nvPr/>
        </p:nvSpPr>
        <p:spPr>
          <a:xfrm>
            <a:off x="274320" y="5029200"/>
            <a:ext cx="10972800" cy="1097280"/>
          </a:xfrm>
          <a:prstGeom prst="rect">
            <a:avLst/>
          </a:prstGeom>
          <a:noFill/>
        </p:spPr>
        <p:txBody>
          <a:bodyPr wrap="square">
            <a:spAutoFit/>
          </a:bodyPr>
          <a:lstStyle/>
          <a:p>
            <a:r>
              <a:rPr sz="1000" b="1">
                <a:solidFill>
                  <a:srgbClr val="2D235A"/>
                </a:solidFill>
                <a:latin typeface="Arial"/>
              </a:rPr>
              <a:t>Certifications: </a:t>
            </a:r>
            <a:r>
              <a:rPr sz="900">
                <a:solidFill>
                  <a:srgbClr val="3C3C3C"/>
                </a:solidFill>
                <a:latin typeface="Arial"/>
              </a:rPr>
              <a:t>Salesforce Certified Application Architect | Salesforce Certified Platform Developer II | ISO Certified</a:t>
            </a:r>
          </a:p>
        </p:txBody>
      </p:sp>
      <p:sp>
        <p:nvSpPr>
          <p:cNvPr id="14" name="TextBox 13"/>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457200"/>
          </a:xfrm>
          <a:prstGeom prst="rect">
            <a:avLst/>
          </a:prstGeom>
          <a:noFill/>
        </p:spPr>
        <p:txBody>
          <a:bodyPr wrap="none">
            <a:spAutoFit/>
          </a:bodyPr>
          <a:lstStyle/>
          <a:p>
            <a:r>
              <a:rPr sz="2400" b="1">
                <a:solidFill>
                  <a:srgbClr val="FFFFFF"/>
                </a:solidFill>
                <a:latin typeface="Arial"/>
              </a:rPr>
              <a:t>Growth Metrics &amp; Market Position</a:t>
            </a:r>
          </a:p>
        </p:txBody>
      </p:sp>
      <p:sp>
        <p:nvSpPr>
          <p:cNvPr id="4" name="TextBox 3"/>
          <p:cNvSpPr txBox="1"/>
          <p:nvPr/>
        </p:nvSpPr>
        <p:spPr>
          <a:xfrm>
            <a:off x="10515600" y="228600"/>
            <a:ext cx="1371600" cy="457200"/>
          </a:xfrm>
          <a:prstGeom prst="rect">
            <a:avLst/>
          </a:prstGeom>
          <a:noFill/>
        </p:spPr>
        <p:txBody>
          <a:bodyPr wrap="none">
            <a:spAutoFit/>
          </a:bodyPr>
          <a:lstStyle/>
          <a:p>
            <a:pPr algn="r"/>
            <a:r>
              <a:rPr sz="2000" b="1">
                <a:solidFill>
                  <a:srgbClr val="FF6482"/>
                </a:solidFill>
                <a:latin typeface="Arial"/>
              </a:rPr>
              <a:t>Kelp</a:t>
            </a:r>
          </a:p>
        </p:txBody>
      </p:sp>
      <p:sp>
        <p:nvSpPr>
          <p:cNvPr id="5" name="Rounded Rectangle 4"/>
          <p:cNvSpPr/>
          <p:nvPr/>
        </p:nvSpPr>
        <p:spPr>
          <a:xfrm>
            <a:off x="45720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68.5%</a:t>
            </a:r>
          </a:p>
          <a:p>
            <a:pPr algn="ctr"/>
            <a:r>
              <a:rPr sz="900">
                <a:solidFill>
                  <a:srgbClr val="C8C8C8"/>
                </a:solidFill>
                <a:latin typeface="Arial"/>
              </a:rPr>
              <a:t>Revenue CAGR</a:t>
            </a:r>
          </a:p>
        </p:txBody>
      </p:sp>
      <p:sp>
        <p:nvSpPr>
          <p:cNvPr id="6" name="Rounded Rectangle 5"/>
          <p:cNvSpPr/>
          <p:nvPr/>
        </p:nvSpPr>
        <p:spPr>
          <a:xfrm>
            <a:off x="329184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35.5%</a:t>
            </a:r>
          </a:p>
          <a:p>
            <a:pPr algn="ctr"/>
            <a:r>
              <a:rPr sz="900">
                <a:solidFill>
                  <a:srgbClr val="C8C8C8"/>
                </a:solidFill>
                <a:latin typeface="Arial"/>
              </a:rPr>
              <a:t>EBITDA Margin</a:t>
            </a:r>
          </a:p>
        </p:txBody>
      </p:sp>
      <p:sp>
        <p:nvSpPr>
          <p:cNvPr id="7" name="Rounded Rectangle 6"/>
          <p:cNvSpPr/>
          <p:nvPr/>
        </p:nvSpPr>
        <p:spPr>
          <a:xfrm>
            <a:off x="612648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79.2%</a:t>
            </a:r>
          </a:p>
          <a:p>
            <a:pPr algn="ctr"/>
            <a:r>
              <a:rPr sz="900">
                <a:solidFill>
                  <a:srgbClr val="C8C8C8"/>
                </a:solidFill>
                <a:latin typeface="Arial"/>
              </a:rPr>
              <a:t>RoCE</a:t>
            </a:r>
          </a:p>
        </p:txBody>
      </p:sp>
      <p:sp>
        <p:nvSpPr>
          <p:cNvPr id="8" name="Rounded Rectangle 7"/>
          <p:cNvSpPr/>
          <p:nvPr/>
        </p:nvSpPr>
        <p:spPr>
          <a:xfrm>
            <a:off x="896112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126.1%</a:t>
            </a:r>
          </a:p>
          <a:p>
            <a:pPr algn="ctr"/>
            <a:r>
              <a:rPr sz="900">
                <a:solidFill>
                  <a:srgbClr val="C8C8C8"/>
                </a:solidFill>
                <a:latin typeface="Arial"/>
              </a:rPr>
              <a:t>ROE</a:t>
            </a:r>
          </a:p>
        </p:txBody>
      </p:sp>
      <p:graphicFrame>
        <p:nvGraphicFramePr>
          <p:cNvPr id="9" name="Chart 8"/>
          <p:cNvGraphicFramePr>
            <a:graphicFrameLocks noGrp="1"/>
          </p:cNvGraphicFramePr>
          <p:nvPr/>
        </p:nvGraphicFramePr>
        <p:xfrm>
          <a:off x="457200" y="2011680"/>
          <a:ext cx="5943600" cy="3200400"/>
        </p:xfrm>
        <a:graphic>
          <a:graphicData uri="http://schemas.openxmlformats.org/drawingml/2006/chart">
            <c:chart xmlns:c="http://schemas.openxmlformats.org/drawingml/2006/chart" r:id="rId2"/>
          </a:graphicData>
        </a:graphic>
      </p:graphicFrame>
      <p:sp>
        <p:nvSpPr>
          <p:cNvPr id="10" name="TextBox 9"/>
          <p:cNvSpPr txBox="1"/>
          <p:nvPr/>
        </p:nvSpPr>
        <p:spPr>
          <a:xfrm>
            <a:off x="6858000" y="2743200"/>
            <a:ext cx="4572000" cy="1828800"/>
          </a:xfrm>
          <a:prstGeom prst="rect">
            <a:avLst/>
          </a:prstGeom>
          <a:noFill/>
        </p:spPr>
        <p:txBody>
          <a:bodyPr wrap="square">
            <a:spAutoFit/>
          </a:bodyPr>
          <a:lstStyle/>
          <a:p>
            <a:pPr>
              <a:defRPr sz="1100">
                <a:solidFill>
                  <a:srgbClr val="3C3C3C"/>
                </a:solidFill>
                <a:latin typeface="Arial"/>
              </a:defRPr>
            </a:pPr>
            <a:r>
              <a:t>The company has demonstrated exceptional growth with a Revenue CAGR of 68.5% over the last five years, reflecting strong market demand and operational efficiency.</a:t>
            </a:r>
          </a:p>
        </p:txBody>
      </p:sp>
      <p:sp>
        <p:nvSpPr>
          <p:cNvPr id="11" name="TextBox 10"/>
          <p:cNvSpPr txBox="1"/>
          <p:nvPr/>
        </p:nvSpPr>
        <p:spPr>
          <a:xfrm>
            <a:off x="6858000" y="4572000"/>
            <a:ext cx="4572000" cy="1645920"/>
          </a:xfrm>
          <a:prstGeom prst="rect">
            <a:avLst/>
          </a:prstGeom>
          <a:noFill/>
        </p:spPr>
        <p:txBody>
          <a:bodyPr wrap="square">
            <a:spAutoFit/>
          </a:bodyPr>
          <a:lstStyle/>
          <a:p>
            <a:r>
              <a:rPr sz="1200" b="1">
                <a:solidFill>
                  <a:srgbClr val="2D235A"/>
                </a:solidFill>
                <a:latin typeface="Arial"/>
              </a:rPr>
              <a:t>Key Achievements</a:t>
            </a:r>
          </a:p>
          <a:p>
            <a:pPr>
              <a:spcBef>
                <a:spcPts val="200"/>
              </a:spcBef>
              <a:defRPr sz="900">
                <a:solidFill>
                  <a:srgbClr val="3C3C3C"/>
                </a:solidFill>
                <a:latin typeface="Arial"/>
              </a:defRPr>
            </a:pPr>
            <a:r>
              <a:t>• Achieved revenue growth from 282.2 million to 1374.3 million in FY25.</a:t>
            </a:r>
          </a:p>
          <a:p>
            <a:pPr>
              <a:spcBef>
                <a:spcPts val="200"/>
              </a:spcBef>
              <a:defRPr sz="900">
                <a:solidFill>
                  <a:srgbClr val="3C3C3C"/>
                </a:solidFill>
                <a:latin typeface="Arial"/>
              </a:defRPr>
            </a:pPr>
            <a:r>
              <a:t>• Increased EBITDA by over 300% from FY21 to FY25.</a:t>
            </a:r>
          </a:p>
          <a:p>
            <a:pPr>
              <a:spcBef>
                <a:spcPts val="200"/>
              </a:spcBef>
              <a:defRPr sz="900">
                <a:solidFill>
                  <a:srgbClr val="3C3C3C"/>
                </a:solidFill>
                <a:latin typeface="Arial"/>
              </a:defRPr>
            </a:pPr>
            <a:r>
              <a:t>• Maintained a robust PAT margin of 24.9% in the latest fiscal year.</a:t>
            </a:r>
          </a:p>
        </p:txBody>
      </p:sp>
      <p:sp>
        <p:nvSpPr>
          <p:cNvPr id="12" name="TextBox 11"/>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457200"/>
          </a:xfrm>
          <a:prstGeom prst="rect">
            <a:avLst/>
          </a:prstGeom>
          <a:noFill/>
        </p:spPr>
        <p:txBody>
          <a:bodyPr wrap="none">
            <a:spAutoFit/>
          </a:bodyPr>
          <a:lstStyle/>
          <a:p>
            <a:r>
              <a:rPr sz="2400" b="1">
                <a:solidFill>
                  <a:srgbClr val="FFFFFF"/>
                </a:solidFill>
                <a:latin typeface="Arial"/>
              </a:rPr>
              <a:t>Investment Highlights</a:t>
            </a:r>
          </a:p>
        </p:txBody>
      </p:sp>
      <p:sp>
        <p:nvSpPr>
          <p:cNvPr id="4" name="TextBox 3"/>
          <p:cNvSpPr txBox="1"/>
          <p:nvPr/>
        </p:nvSpPr>
        <p:spPr>
          <a:xfrm>
            <a:off x="10515600" y="228600"/>
            <a:ext cx="1371600" cy="457200"/>
          </a:xfrm>
          <a:prstGeom prst="rect">
            <a:avLst/>
          </a:prstGeom>
          <a:noFill/>
        </p:spPr>
        <p:txBody>
          <a:bodyPr wrap="none">
            <a:spAutoFit/>
          </a:bodyPr>
          <a:lstStyle/>
          <a:p>
            <a:pPr algn="r"/>
            <a:r>
              <a:rPr sz="2000" b="1">
                <a:solidFill>
                  <a:srgbClr val="FF6482"/>
                </a:solidFill>
                <a:latin typeface="Arial"/>
              </a:rPr>
              <a:t>Kelp</a:t>
            </a:r>
          </a:p>
        </p:txBody>
      </p:sp>
      <p:pic>
        <p:nvPicPr>
          <p:cNvPr id="5" name="Picture 4" descr="technology_software_digital_unsplash.jpg"/>
          <p:cNvPicPr>
            <a:picLocks noChangeAspect="1"/>
          </p:cNvPicPr>
          <p:nvPr/>
        </p:nvPicPr>
        <p:blipFill>
          <a:blip r:embed="rId2"/>
          <a:stretch>
            <a:fillRect/>
          </a:stretch>
        </p:blipFill>
        <p:spPr>
          <a:xfrm>
            <a:off x="274320" y="1371600"/>
            <a:ext cx="3657600" cy="3657600"/>
          </a:xfrm>
          <a:prstGeom prst="rect">
            <a:avLst/>
          </a:prstGeom>
        </p:spPr>
      </p:pic>
      <p:sp>
        <p:nvSpPr>
          <p:cNvPr id="6" name="Oval 5"/>
          <p:cNvSpPr/>
          <p:nvPr/>
        </p:nvSpPr>
        <p:spPr>
          <a:xfrm>
            <a:off x="4389120" y="12801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280160"/>
            <a:ext cx="6858000" cy="822960"/>
          </a:xfrm>
          <a:prstGeom prst="rect">
            <a:avLst/>
          </a:prstGeom>
          <a:noFill/>
        </p:spPr>
        <p:txBody>
          <a:bodyPr wrap="square">
            <a:spAutoFit/>
          </a:bodyPr>
          <a:lstStyle/>
          <a:p>
            <a:r>
              <a:rPr sz="1200" b="1">
                <a:solidFill>
                  <a:srgbClr val="2D235A"/>
                </a:solidFill>
                <a:latin typeface="Arial"/>
              </a:rPr>
              <a:t>Robust Revenue Growth</a:t>
            </a:r>
          </a:p>
          <a:p>
            <a:pPr>
              <a:defRPr sz="1000">
                <a:solidFill>
                  <a:srgbClr val="3C3C3C"/>
                </a:solidFill>
                <a:latin typeface="Arial"/>
              </a:defRPr>
            </a:pPr>
            <a:r>
              <a:t>Achieved a remarkable 26% YoY revenue growth in FY25, demonstrating strong operational execution despite challenging market conditions.</a:t>
            </a:r>
          </a:p>
        </p:txBody>
      </p:sp>
      <p:sp>
        <p:nvSpPr>
          <p:cNvPr id="8" name="Oval 7"/>
          <p:cNvSpPr/>
          <p:nvPr/>
        </p:nvSpPr>
        <p:spPr>
          <a:xfrm>
            <a:off x="4389120" y="21945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194560"/>
            <a:ext cx="6858000" cy="822960"/>
          </a:xfrm>
          <a:prstGeom prst="rect">
            <a:avLst/>
          </a:prstGeom>
          <a:noFill/>
        </p:spPr>
        <p:txBody>
          <a:bodyPr wrap="square">
            <a:spAutoFit/>
          </a:bodyPr>
          <a:lstStyle/>
          <a:p>
            <a:r>
              <a:rPr sz="1200" b="1">
                <a:solidFill>
                  <a:srgbClr val="2D235A"/>
                </a:solidFill>
                <a:latin typeface="Arial"/>
              </a:rPr>
              <a:t>Strategic Client Acquisition</a:t>
            </a:r>
          </a:p>
          <a:p>
            <a:pPr>
              <a:defRPr sz="1000">
                <a:solidFill>
                  <a:srgbClr val="3C3C3C"/>
                </a:solidFill>
                <a:latin typeface="Arial"/>
              </a:defRPr>
            </a:pPr>
            <a:r>
              <a:t>Secured a significant $600,000 contract with a leading US research firm, showcasing strong demand for services.</a:t>
            </a:r>
          </a:p>
        </p:txBody>
      </p:sp>
      <p:sp>
        <p:nvSpPr>
          <p:cNvPr id="10" name="Oval 9"/>
          <p:cNvSpPr/>
          <p:nvPr/>
        </p:nvSpPr>
        <p:spPr>
          <a:xfrm>
            <a:off x="4389120" y="31089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3108960"/>
            <a:ext cx="6858000" cy="822960"/>
          </a:xfrm>
          <a:prstGeom prst="rect">
            <a:avLst/>
          </a:prstGeom>
          <a:noFill/>
        </p:spPr>
        <p:txBody>
          <a:bodyPr wrap="square">
            <a:spAutoFit/>
          </a:bodyPr>
          <a:lstStyle/>
          <a:p>
            <a:r>
              <a:rPr sz="1200" b="1">
                <a:solidFill>
                  <a:srgbClr val="2D235A"/>
                </a:solidFill>
                <a:latin typeface="Arial"/>
              </a:rPr>
              <a:t>Award-Winning Expertise</a:t>
            </a:r>
          </a:p>
          <a:p>
            <a:pPr>
              <a:defRPr sz="1000">
                <a:solidFill>
                  <a:srgbClr val="3C3C3C"/>
                </a:solidFill>
                <a:latin typeface="Arial"/>
              </a:defRPr>
            </a:pPr>
            <a:r>
              <a:t>Recognized as 'Odoo Best Partner India 2025', reflecting a strong market presence and credibility in the technology sector.</a:t>
            </a:r>
          </a:p>
        </p:txBody>
      </p:sp>
      <p:sp>
        <p:nvSpPr>
          <p:cNvPr id="12" name="Oval 11"/>
          <p:cNvSpPr/>
          <p:nvPr/>
        </p:nvSpPr>
        <p:spPr>
          <a:xfrm>
            <a:off x="4389120" y="40233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4023360"/>
            <a:ext cx="6858000" cy="822960"/>
          </a:xfrm>
          <a:prstGeom prst="rect">
            <a:avLst/>
          </a:prstGeom>
          <a:noFill/>
        </p:spPr>
        <p:txBody>
          <a:bodyPr wrap="square">
            <a:spAutoFit/>
          </a:bodyPr>
          <a:lstStyle/>
          <a:p>
            <a:r>
              <a:rPr sz="1200" b="1">
                <a:solidFill>
                  <a:srgbClr val="2D235A"/>
                </a:solidFill>
                <a:latin typeface="Arial"/>
              </a:rPr>
              <a:t>Expanding Addressable Market</a:t>
            </a:r>
          </a:p>
          <a:p>
            <a:pPr>
              <a:defRPr sz="1000">
                <a:solidFill>
                  <a:srgbClr val="3C3C3C"/>
                </a:solidFill>
                <a:latin typeface="Arial"/>
              </a:defRPr>
            </a:pPr>
            <a:r>
              <a:t>Positioned to capitalize on India's IT services market projected to grow at a CAGR of 13% from 2025 to 2030, along with increasing IT spending.</a:t>
            </a:r>
          </a:p>
        </p:txBody>
      </p:sp>
      <p:sp>
        <p:nvSpPr>
          <p:cNvPr id="14" name="Oval 13"/>
          <p:cNvSpPr/>
          <p:nvPr/>
        </p:nvSpPr>
        <p:spPr>
          <a:xfrm>
            <a:off x="4389120" y="49377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4937760"/>
            <a:ext cx="6858000" cy="822960"/>
          </a:xfrm>
          <a:prstGeom prst="rect">
            <a:avLst/>
          </a:prstGeom>
          <a:noFill/>
        </p:spPr>
        <p:txBody>
          <a:bodyPr wrap="square">
            <a:spAutoFit/>
          </a:bodyPr>
          <a:lstStyle/>
          <a:p>
            <a:r>
              <a:rPr sz="1200" b="1">
                <a:solidFill>
                  <a:srgbClr val="2D235A"/>
                </a:solidFill>
                <a:latin typeface="Arial"/>
              </a:rPr>
              <a:t>Diverse Growth Initiatives</a:t>
            </a:r>
          </a:p>
          <a:p>
            <a:pPr>
              <a:defRPr sz="1000">
                <a:solidFill>
                  <a:srgbClr val="3C3C3C"/>
                </a:solidFill>
                <a:latin typeface="Arial"/>
              </a:defRPr>
            </a:pPr>
            <a:r>
              <a:t>Plans for a 20% revenue growth target, geographical expansion across 30+ countries, and innovative product offerings to strengthen market position.</a:t>
            </a:r>
          </a:p>
        </p:txBody>
      </p:sp>
      <p:sp>
        <p:nvSpPr>
          <p:cNvPr id="16" name="TextBox 15"/>
          <p:cNvSpPr txBox="1"/>
          <p:nvPr/>
        </p:nvSpPr>
        <p:spPr>
          <a:xfrm>
            <a:off x="457200" y="5760720"/>
            <a:ext cx="10972800" cy="457200"/>
          </a:xfrm>
          <a:prstGeom prst="rect">
            <a:avLst/>
          </a:prstGeom>
          <a:noFill/>
        </p:spPr>
        <p:txBody>
          <a:bodyPr wrap="none">
            <a:spAutoFit/>
          </a:bodyPr>
          <a:lstStyle/>
          <a:p>
            <a:pPr algn="ctr">
              <a:defRPr sz="1200" i="1">
                <a:solidFill>
                  <a:srgbClr val="3C3C3C"/>
                </a:solidFill>
                <a:latin typeface="Arial"/>
              </a:defRPr>
            </a:pPr>
            <a:r>
              <a:t>Invest in a technology leader poised for sustainable growth in a dynamic market landscape.</a:t>
            </a:r>
          </a:p>
        </p:txBody>
      </p:sp>
      <p:sp>
        <p:nvSpPr>
          <p:cNvPr id="17" name="TextBox 16"/>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D235A"/>
        </a:solidFill>
        <a:effectLst/>
      </p:bgPr>
    </p:bg>
    <p:spTree>
      <p:nvGrpSpPr>
        <p:cNvPr id="1" name=""/>
        <p:cNvGrpSpPr/>
        <p:nvPr/>
      </p:nvGrpSpPr>
      <p:grpSpPr/>
      <p:sp>
        <p:nvSpPr>
          <p:cNvPr id="2" name="TextBox 1"/>
          <p:cNvSpPr txBox="1"/>
          <p:nvPr/>
        </p:nvSpPr>
        <p:spPr>
          <a:xfrm>
            <a:off x="457200" y="457200"/>
            <a:ext cx="1828800" cy="548640"/>
          </a:xfrm>
          <a:prstGeom prst="rect">
            <a:avLst/>
          </a:prstGeom>
          <a:noFill/>
        </p:spPr>
        <p:txBody>
          <a:bodyPr wrap="none">
            <a:spAutoFit/>
          </a:bodyPr>
          <a:lstStyle/>
          <a:p>
            <a:r>
              <a:rPr sz="3200" b="1">
                <a:solidFill>
                  <a:srgbClr val="FF6482"/>
                </a:solidFill>
                <a:latin typeface="Arial"/>
              </a:rPr>
              <a:t>Kelp</a:t>
            </a:r>
          </a:p>
        </p:txBody>
      </p:sp>
      <p:sp>
        <p:nvSpPr>
          <p:cNvPr id="3" name="TextBox 2"/>
          <p:cNvSpPr txBox="1"/>
          <p:nvPr/>
        </p:nvSpPr>
        <p:spPr>
          <a:xfrm>
            <a:off x="457200" y="1645920"/>
            <a:ext cx="10972800" cy="731520"/>
          </a:xfrm>
          <a:prstGeom prst="rect">
            <a:avLst/>
          </a:prstGeom>
          <a:noFill/>
        </p:spPr>
        <p:txBody>
          <a:bodyPr wrap="none">
            <a:spAutoFit/>
          </a:bodyPr>
          <a:lstStyle/>
          <a:p>
            <a:r>
              <a:rPr sz="3600" b="1">
                <a:solidFill>
                  <a:srgbClr val="FFFFFF"/>
                </a:solidFill>
                <a:latin typeface="Arial"/>
              </a:rPr>
              <a:t>Important Notice &amp; Disclaimer</a:t>
            </a:r>
          </a:p>
        </p:txBody>
      </p:sp>
      <p:sp>
        <p:nvSpPr>
          <p:cNvPr id="4" name="TextBox 3"/>
          <p:cNvSpPr txBox="1"/>
          <p:nvPr/>
        </p:nvSpPr>
        <p:spPr>
          <a:xfrm>
            <a:off x="457200" y="2743200"/>
            <a:ext cx="10972800" cy="2743200"/>
          </a:xfrm>
          <a:prstGeom prst="rect">
            <a:avLst/>
          </a:prstGeom>
          <a:noFill/>
        </p:spPr>
        <p:txBody>
          <a:bodyPr wrap="square">
            <a:spAutoFit/>
          </a:bodyPr>
          <a:lstStyle/>
          <a:p>
            <a:pPr>
              <a:lnSpc>
                <a:spcPct val="150000"/>
              </a:lnSpc>
            </a:pPr>
            <a:r>
              <a:rPr sz="1400">
                <a:solidFill>
                  <a:srgbClr val="C8C8C8"/>
                </a:solidFill>
                <a:latin typeface="Arial"/>
              </a:rPr>
              <a:t>Strictly Private &amp; Confidential. This presentation is prepared by Kelp Global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based on current assumptions; actual results may vary materially.</a:t>
            </a:r>
          </a:p>
        </p:txBody>
      </p:sp>
      <p:sp>
        <p:nvSpPr>
          <p:cNvPr id="5" name="TextBox 4"/>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